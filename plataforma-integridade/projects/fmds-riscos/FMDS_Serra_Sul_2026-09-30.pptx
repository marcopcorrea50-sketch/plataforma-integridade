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Testes</c:v>
                </c:pt>
              </c:strCache>
            </c:strRef>
          </c:tx>
          <c:spPr>
            <a:solidFill>
              <a:srgbClr val="00695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1828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set/26</c:v>
                  </c:pt>
                  <c:pt idx="1">
                    <c:v>out/26</c:v>
                  </c:pt>
                  <c:pt idx="2">
                    <c:v>nov/26</c:v>
                  </c:pt>
                  <c:pt idx="3">
                    <c:v>dez/26</c:v>
                  </c:pt>
                  <c:pt idx="4">
                    <c:v>jan/27</c:v>
                  </c:pt>
                  <c:pt idx="5">
                    <c:v>fev/27</c:v>
                  </c:pt>
                  <c:pt idx="6">
                    <c:v>mar/27</c:v>
                  </c:pt>
                  <c:pt idx="7">
                    <c:v>abr/27</c:v>
                  </c:pt>
                  <c:pt idx="8">
                    <c:v>mai/27</c:v>
                  </c:pt>
                  <c:pt idx="9">
                    <c:v>jun/27</c:v>
                  </c:pt>
                  <c:pt idx="10">
                    <c:v>jul/27</c:v>
                  </c:pt>
                  <c:pt idx="11">
                    <c:v>ago/27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0</c:v>
                </c:pt>
                <c:pt idx="8">
                  <c:v>1</c:v>
                </c:pt>
                <c:pt idx="9">
                  <c:v>4</c:v>
                </c:pt>
                <c:pt idx="10">
                  <c:v>0</c:v>
                </c:pt>
                <c:pt idx="11">
                  <c:v>1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101828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46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Mina</c:v>
                </c:pt>
              </c:strCache>
            </c:strRef>
          </c:tx>
          <c:spPr>
            <a:solidFill>
              <a:srgbClr val="008A7E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Segoe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CTH-000020229</c:v>
                  </c:pt>
                  <c:pt idx="1">
                    <c:v>CTH-000021799</c:v>
                  </c:pt>
                  <c:pt idx="2">
                    <c:v>CTH-000031784</c:v>
                  </c:pt>
                  <c:pt idx="3">
                    <c:v>CTH-000012891</c:v>
                  </c:pt>
                  <c:pt idx="4">
                    <c:v>CTH-000021836</c:v>
                  </c:pt>
                  <c:pt idx="5">
                    <c:v>CTH-000021855</c:v>
                  </c:pt>
                  <c:pt idx="6">
                    <c:v>CTH-000013440</c:v>
                  </c:pt>
                  <c:pt idx="7">
                    <c:v>CTH-000021832</c:v>
                  </c:pt>
                  <c:pt idx="8">
                    <c:v>CTH-000021818</c:v>
                  </c:pt>
                  <c:pt idx="9">
                    <c:v>CTH-000013586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0</c:v>
                </c:pt>
                <c:pt idx="2">
                  <c:v>9</c:v>
                </c:pt>
                <c:pt idx="3">
                  <c:v>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BFE/Usina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Segoe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CTH-000020229</c:v>
                  </c:pt>
                  <c:pt idx="1">
                    <c:v>CTH-000021799</c:v>
                  </c:pt>
                  <c:pt idx="2">
                    <c:v>CTH-000031784</c:v>
                  </c:pt>
                  <c:pt idx="3">
                    <c:v>CTH-000012891</c:v>
                  </c:pt>
                  <c:pt idx="4">
                    <c:v>CTH-000021836</c:v>
                  </c:pt>
                  <c:pt idx="5">
                    <c:v>CTH-000021855</c:v>
                  </c:pt>
                  <c:pt idx="6">
                    <c:v>CTH-000013440</c:v>
                  </c:pt>
                  <c:pt idx="7">
                    <c:v>CTH-000021832</c:v>
                  </c:pt>
                  <c:pt idx="8">
                    <c:v>CTH-000021818</c:v>
                  </c:pt>
                  <c:pt idx="9">
                    <c:v>CTH-000013586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  <c:pt idx="4">
                  <c:v>8</c:v>
                </c:pt>
                <c:pt idx="5">
                  <c:v>8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  <c:pt idx="9">
                  <c:v>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Segoe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467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7546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Notas</c:v>
                </c:pt>
              </c:strCache>
            </c:strRef>
          </c:tx>
          <c:spPr>
            <a:solidFill>
              <a:srgbClr val="00695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1828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SC25</c:v>
                  </c:pt>
                  <c:pt idx="1">
                    <c:v>SC21</c:v>
                  </c:pt>
                  <c:pt idx="2">
                    <c:v>SC28</c:v>
                  </c:pt>
                  <c:pt idx="3">
                    <c:v>SC27</c:v>
                  </c:pt>
                  <c:pt idx="4">
                    <c:v>SC76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</c:v>
                </c:pt>
                <c:pt idx="1">
                  <c:v>126</c:v>
                </c:pt>
                <c:pt idx="2">
                  <c:v>33</c:v>
                </c:pt>
                <c:pt idx="3">
                  <c:v>19</c:v>
                </c:pt>
                <c:pt idx="4">
                  <c:v>19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101828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467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Vencidas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Segoe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00695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Segoe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93</c:v>
                </c:pt>
                <c:pt idx="2">
                  <c:v>179</c:v>
                </c:pt>
                <c:pt idx="3">
                  <c:v>183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Segoe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6E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46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7546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Segoe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Até 30 dias</c:v>
                  </c:pt>
                  <c:pt idx="1">
                    <c:v>31 a 180 dias</c:v>
                  </c:pt>
                  <c:pt idx="2">
                    <c:v>181 dias a 1 ano</c:v>
                  </c:pt>
                  <c:pt idx="3">
                    <c:v>1 a 2 anos</c:v>
                  </c:pt>
                  <c:pt idx="4">
                    <c:v>Mais de 2 anos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P2/P3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Segoe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Até 30 dias</c:v>
                  </c:pt>
                  <c:pt idx="1">
                    <c:v>31 a 180 dias</c:v>
                  </c:pt>
                  <c:pt idx="2">
                    <c:v>181 dias a 1 ano</c:v>
                  </c:pt>
                  <c:pt idx="3">
                    <c:v>1 a 2 anos</c:v>
                  </c:pt>
                  <c:pt idx="4">
                    <c:v>Mais de 2 anos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Segoe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6E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46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75467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9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FMDS Gestão de Riscos · Serra Sul · S11D · Gerência de Integridade Estrutural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6455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Data-base 30/09/2026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138160" y="-548640"/>
            <a:ext cx="4754880" cy="4754880"/>
          </a:xfrm>
          <a:prstGeom prst="rect">
            <a:avLst/>
          </a:prstGeom>
          <a:solidFill>
            <a:srgbClr val="0069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235440" y="3108960"/>
            <a:ext cx="3840480" cy="3840480"/>
          </a:xfrm>
          <a:prstGeom prst="rect">
            <a:avLst/>
          </a:prstGeom>
          <a:solidFill>
            <a:srgbClr val="004D45">
              <a:alpha val="0"/>
            </a:srgbClr>
          </a:solidFill>
          <a:ln w="12700">
            <a:solidFill>
              <a:srgbClr val="5FD0C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73152" cy="2423160"/>
          </a:xfrm>
          <a:prstGeom prst="rect">
            <a:avLst/>
          </a:prstGeom>
          <a:solidFill>
            <a:srgbClr val="5FD0C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FMDS GESTÃO DE RISCOS · REPORTE EXECUTIVO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103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Integridade Estrutural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9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Serra Sul · S11D · Carajás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5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Situação de controles, ativos críticos, notas, ordens de inspeção e planos de 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D0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Data-base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</a:t>
            </a:r>
            <a:pPr indent="0" marL="0">
              <a:buNone/>
            </a:pPr>
            <a:r>
              <a:rPr lang="en-US" sz="1200" dirty="0">
                <a:solidFill>
                  <a:srgbClr val="A9D5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Gerência de Integridade Estrutural — Coordenação Serra Sul 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SUMÁRIO EXECUTIVO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pontos críticos pedem ação; 93% dos controles funcionam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Situação das cinco frentes em 30/09/2026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234440"/>
                <a:gridCol w="3291840"/>
                <a:gridCol w="1234440"/>
                <a:gridCol w="31821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FRENTE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INDICADOR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SITUAÇÃO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DESTAQUE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Farol de testes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de 27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controles com resultado Funciona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Atenção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CTH-000030053 vence em 11 dias · 6 testes em 60 dias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Ativos críticos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ativos estruturais · Mina 55 · Usina 57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Atenção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controles divergem da contagem do Bwise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 SAP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 ativas · 32 de prioridade alta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Crítico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vencidas, 0 delas P1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Ordens de inspeção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ordens INSES · 5 em execução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Crítico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atrasadas, a maior com 22 dias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Planos de ação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de 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ações concluídas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Em dia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no prazo · 0 vencidas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532120"/>
            <a:ext cx="45720" cy="548640"/>
          </a:xfrm>
          <a:prstGeom prst="rect">
            <a:avLst/>
          </a:prstGeom>
          <a:solidFill>
            <a:srgbClr val="B8C0C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5532120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Prazos e atrasos calculados na data-base 30/09/2026. Fontes: Bwise (testes e planos) e SAP PM (ativos, notas e ordens).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16/08/2026: notas vencidas 0 → 2; ordens atrasadas 4 → 12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 entre as bases de 16/08/2026 e 30/09/2026 (45 dias)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INDICADOR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16/08/2026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30/09/2026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Controles com resultado Funciona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=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Testes vencidos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=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Testes a vencer em 60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Divergências SAP × Bwise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 SAP ativas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▼ 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 P1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 vencidas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Ordens de inspeção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▼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Ordens atrasadas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Ordens concluídas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980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mudou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19659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renovados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CTH-000019610, CTH-000021836, CTH-000021818, CTH-00…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0" y="24963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0" y="24963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novas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de prioridade P1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30266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0" y="30266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encerradas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saíram da carteira ativa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35570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229600" y="355701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passaram a vencidas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0873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0" y="408736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ordens concluídas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46177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0" y="46177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novas ordens atrasadas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202603680679, 202604564368, 202604564369, 202604428…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FAROL DE TESTES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Nenhum teste vencido; 6 vencem nos próximos 60 dias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" cy="932688"/>
          </a:xfrm>
          <a:prstGeom prst="rect">
            <a:avLst/>
          </a:prstGeom>
          <a:solidFill>
            <a:srgbClr val="0069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25/27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Funciona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93% da carteira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90824" y="1508760"/>
            <a:ext cx="45720" cy="932688"/>
          </a:xfrm>
          <a:prstGeom prst="rect">
            <a:avLst/>
          </a:prstGeom>
          <a:solidFill>
            <a:srgbClr val="00695F"/>
          </a:solidFill>
          <a:ln/>
        </p:spPr>
      </p:sp>
      <p:sp>
        <p:nvSpPr>
          <p:cNvPr id="9" name="Text 7"/>
          <p:cNvSpPr/>
          <p:nvPr/>
        </p:nvSpPr>
        <p:spPr>
          <a:xfrm>
            <a:off x="3573704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73704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vencidos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73704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carteira em dia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3008" y="1508760"/>
            <a:ext cx="45720" cy="932688"/>
          </a:xfrm>
          <a:prstGeom prst="rect">
            <a:avLst/>
          </a:prstGeom>
          <a:solidFill>
            <a:srgbClr val="FAB219"/>
          </a:solidFill>
          <a:ln/>
        </p:spPr>
      </p:sp>
      <p:sp>
        <p:nvSpPr>
          <p:cNvPr id="13" name="Text 11"/>
          <p:cNvSpPr/>
          <p:nvPr/>
        </p:nvSpPr>
        <p:spPr>
          <a:xfrm>
            <a:off x="6415888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15888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Vencem em 60 dias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5888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próximo: 11/10/2026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75191" y="1508760"/>
            <a:ext cx="45720" cy="932688"/>
          </a:xfrm>
          <a:prstGeom prst="rect">
            <a:avLst/>
          </a:prstGeom>
          <a:solidFill>
            <a:srgbClr val="FAB219"/>
          </a:solidFill>
          <a:ln/>
        </p:spPr>
      </p:sp>
      <p:sp>
        <p:nvSpPr>
          <p:cNvPr id="17" name="Text 15"/>
          <p:cNvSpPr/>
          <p:nvPr/>
        </p:nvSpPr>
        <p:spPr>
          <a:xfrm>
            <a:off x="9258071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58071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teste definido (ND)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58071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CTH-000030055, CTH-000033567 (1º teste até 22/10/2026)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Vencimentos por mês — próximos 12 meses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06324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897880" y="2788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vencimentos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3127248"/>
          <a:ext cx="57424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31720"/>
                <a:gridCol w="1033272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VENCE 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PRAZO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CTH-000030053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Conservação dos componentes estruturais e críticos TN1085KS02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11/10/2026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 dias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CTH-000021919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Bacia de contenção dos Tanques de solução combustível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05/11/2026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 dias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CTH-000021823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Conservação da integridade estrutural das máquinas do Pátio d…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06/11/2026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 dias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CTH-000012891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Conservação de componentes estruturais principais ou críticos…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20/11/2026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 dias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CTH-000021912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Bacia de contenção dos Tanques de Emulsificante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24/11/2026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 dias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5852160"/>
            <a:ext cx="11094415" cy="420624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25" name="Shape 21"/>
          <p:cNvSpPr/>
          <p:nvPr/>
        </p:nvSpPr>
        <p:spPr>
          <a:xfrm>
            <a:off x="548640" y="5852160"/>
            <a:ext cx="45720" cy="420624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26" name="Text 22"/>
          <p:cNvSpPr/>
          <p:nvPr/>
        </p:nvSpPr>
        <p:spPr>
          <a:xfrm>
            <a:off x="749808" y="5852160"/>
            <a:ext cx="10774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concluídos e registrados no Bwise desde a base anterior: CTH-000021836 em 25/08/2026 (vence 25/02/2027) · CTH-000021818 em 08/09/2026 (vence 08/03/2027) · CTH-000031159 em 08/09/2026 (vence 08/03/2027) · CTH-000020229 em 25/08/2026 (vence 25/08/2027)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CRÍTICOS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 ativos estruturais sob 23 controles; 3 divergem do Bwise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Escopo: somente ativos estruturais — subcomponentes e duplicações de hierarquia excluídos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estruturais em 105 locais de instalação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678904" cy="182880"/>
          </a:xfrm>
          <a:prstGeom prst="rect">
            <a:avLst/>
          </a:prstGeom>
          <a:solidFill>
            <a:srgbClr val="008A7E"/>
          </a:solidFill>
          <a:ln/>
        </p:spPr>
      </p:sp>
      <p:sp>
        <p:nvSpPr>
          <p:cNvPr id="8" name="Shape 6"/>
          <p:cNvSpPr/>
          <p:nvPr/>
        </p:nvSpPr>
        <p:spPr>
          <a:xfrm>
            <a:off x="2254976" y="2743200"/>
            <a:ext cx="1768384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08960"/>
            <a:ext cx="118872" cy="118872"/>
          </a:xfrm>
          <a:prstGeom prst="rect">
            <a:avLst/>
          </a:prstGeom>
          <a:solidFill>
            <a:srgbClr val="008A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3108960"/>
            <a:ext cx="118872" cy="118872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3017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BFE/Usina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Conciliação SAP × Bwise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"/>
                <a:gridCol w="594360"/>
                <a:gridCol w="5943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BWISE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CTH-000013440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CTH-000013586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CTH-000014809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-28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54132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ativos vinculados na base SAP: CTH-000031774, CTH-000029514, CTH-000030055, CTH-000033567.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0" y="1554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Controles com mais ativos vinculados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480560" y="1783080"/>
          <a:ext cx="7223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SAP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458 notas ativas; 2 vencidas, 0 delas de prioridade alta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Carteira de manutenção dos ativos críticos · 60 locais de instalação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5720" cy="932688"/>
          </a:xfrm>
          <a:prstGeom prst="rect">
            <a:avLst/>
          </a:prstGeom>
          <a:solidFill>
            <a:srgbClr val="0069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ativas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Mina 221 · BFE/Usina 237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0824" y="1508760"/>
            <a:ext cx="45720" cy="932688"/>
          </a:xfrm>
          <a:prstGeom prst="rect">
            <a:avLst/>
          </a:prstGeom>
          <a:solidFill>
            <a:srgbClr val="00695F"/>
          </a:solidFill>
          <a:ln/>
        </p:spPr>
      </p:sp>
      <p:sp>
        <p:nvSpPr>
          <p:cNvPr id="10" name="Text 8"/>
          <p:cNvSpPr/>
          <p:nvPr/>
        </p:nvSpPr>
        <p:spPr>
          <a:xfrm>
            <a:off x="3573704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73704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 alta (P1)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73704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P2 406 · P3 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1508760"/>
            <a:ext cx="45720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15888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15888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Vencidas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5888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de prioridade P1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75191" y="1508760"/>
            <a:ext cx="45720" cy="932688"/>
          </a:xfrm>
          <a:prstGeom prst="rect">
            <a:avLst/>
          </a:prstGeom>
          <a:solidFill>
            <a:srgbClr val="FAB219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071" y="1472184"/>
            <a:ext cx="238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58071" y="2002536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Vencem em 30 dias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58071" y="2221992"/>
            <a:ext cx="238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 desejada próxima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por centro de trabalho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306324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71500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vencidas — P1 primeiro, das mais antigas às mais recentes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3127248"/>
          <a:ext cx="59253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11480"/>
                <a:gridCol w="2697480"/>
                <a:gridCol w="15819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VENCEU 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202400546150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AP_AE0. _AUSENCIA DE ELEMENTOS DE FI…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202400545996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AP_AE0. _AUSENCIA DE ELEMENTOS DE FI…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ENVELHECIMENTO DAS NOTAS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notas ativas foram abertas antes de 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 de abertura pelo prefixo do número SAP da nota · atraso contado da conclusão desejada até a data-base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ativas por ano de abertura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vencidas por tempo de atraso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8288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5074920"/>
            <a:ext cx="5239512" cy="73152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10" name="Shape 6"/>
          <p:cNvSpPr/>
          <p:nvPr/>
        </p:nvSpPr>
        <p:spPr>
          <a:xfrm>
            <a:off x="6400800" y="5074920"/>
            <a:ext cx="45720" cy="731520"/>
          </a:xfrm>
          <a:prstGeom prst="rect">
            <a:avLst/>
          </a:prstGeom>
          <a:solidFill>
            <a:srgbClr val="FAB219"/>
          </a:solidFill>
          <a:ln/>
        </p:spPr>
      </p:sp>
      <p:sp>
        <p:nvSpPr>
          <p:cNvPr id="11" name="Text 7"/>
          <p:cNvSpPr/>
          <p:nvPr/>
        </p:nvSpPr>
        <p:spPr>
          <a:xfrm>
            <a:off x="6601968" y="507492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notas abertas antes de 2025 continuam ativas. As vencidas antigas pedem decisão: executar, repactuar o prazo ou encerrar.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equipamentos concentram as 14 pendências críticas; 5 deles somam 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360°: notas, ordens e controles do mesmo equipamento · pendência crítica = nota vencida ou ordem atrasada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703320"/>
                <a:gridCol w="1097280"/>
                <a:gridCol w="777240"/>
                <a:gridCol w="868680"/>
                <a:gridCol w="640080"/>
                <a:gridCol w="960120"/>
                <a:gridCol w="7132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EQUIPAMENTO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ÁREA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VENCIDAS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ORD. ATRAS.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TR_1085-TR02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DO TRANSPORTADOR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BFE/Usina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TR_2011-TR08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COBERTURA DA CORREIA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BFE/Usina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EP_2020-EP01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DO EP2020KS01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BFE/Usina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BMMSR04-BM1080KS04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BM1080KS04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BMMSR02-BM1080KS02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BM1080KS02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TR_1085-TR04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TR COR ROL RASP TR1085KS04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EEMTS_E-EE1083KS01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DO EE1083KS01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TR_1081-TR01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 TR COR ROL RASP TR1081KS01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SAB12-TR1080KS82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SISTEMA DE ESTRUTURA TRANSP. TR1080KS82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69280"/>
            <a:ext cx="45720" cy="457200"/>
          </a:xfrm>
          <a:prstGeom prst="rect">
            <a:avLst/>
          </a:prstGeom>
          <a:solidFill>
            <a:srgbClr val="B8C0C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5669280"/>
            <a:ext cx="1077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103 equipamentos com ativos críticos · 16 com notas P1 · 43 sem notas ativas. Lista completa na tela Equipamentos do painel.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ORDENS DE INSPEÇÃO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ordens atrasadas, até 22 dias; 8 em andamento no prazo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 de trabalho INSES — Inspeção Estrutural · Mina 17 · BFE/Usina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965960" y="15910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ordens de inspeção no período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em mai/26 (1), jul/26 (2), ago/26 (10), set/26 (14)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903419" cy="18288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8" name="Shape 6"/>
          <p:cNvSpPr/>
          <p:nvPr/>
        </p:nvSpPr>
        <p:spPr>
          <a:xfrm>
            <a:off x="5479491" y="2487168"/>
            <a:ext cx="2027089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" name="Shape 7"/>
          <p:cNvSpPr/>
          <p:nvPr/>
        </p:nvSpPr>
        <p:spPr>
          <a:xfrm>
            <a:off x="7534013" y="2487168"/>
            <a:ext cx="1205281" cy="182880"/>
          </a:xfrm>
          <a:prstGeom prst="rect">
            <a:avLst/>
          </a:prstGeom>
          <a:solidFill>
            <a:srgbClr val="B8C0CC"/>
          </a:solidFill>
          <a:ln/>
        </p:spPr>
      </p:sp>
      <p:sp>
        <p:nvSpPr>
          <p:cNvPr id="10" name="Shape 8"/>
          <p:cNvSpPr/>
          <p:nvPr/>
        </p:nvSpPr>
        <p:spPr>
          <a:xfrm>
            <a:off x="8766725" y="2487168"/>
            <a:ext cx="2876330" cy="18288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52928"/>
            <a:ext cx="118872" cy="118872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61488"/>
            <a:ext cx="259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Atrasadas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22244" y="2852928"/>
            <a:ext cx="118872" cy="11887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3505124" y="2761488"/>
            <a:ext cx="259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execução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5848" y="2852928"/>
            <a:ext cx="118872" cy="118872"/>
          </a:xfrm>
          <a:prstGeom prst="rect">
            <a:avLst/>
          </a:prstGeom>
          <a:solidFill>
            <a:srgbClr val="B8C0CC"/>
          </a:solidFill>
          <a:ln/>
        </p:spPr>
      </p:sp>
      <p:sp>
        <p:nvSpPr>
          <p:cNvPr id="16" name="Text 14"/>
          <p:cNvSpPr/>
          <p:nvPr/>
        </p:nvSpPr>
        <p:spPr>
          <a:xfrm>
            <a:off x="6278728" y="2761488"/>
            <a:ext cx="259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Programadas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69451" y="2852928"/>
            <a:ext cx="118872" cy="118872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331" y="2761488"/>
            <a:ext cx="259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Concluídas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Ordens com início programado vencido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50208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  <a:gridCol w="1417320"/>
                <a:gridCol w="155448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ÁREA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INÍCIO PROG.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ATRASO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202603680679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INSPECAO ESTRUTURAL N3 LANÇA EP2020KS01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BFE/Usina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08/09/2026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202604564368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 ESTRUTURAL TR1080KS82 RISCO ALTO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21/09/2026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202604564369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 ESTRUTURAL TR1080KS81 RISCO ALTO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21/09/2026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202604428330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 ESTRUTURAL CIVIL TR 450M TR1081KS01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22/09/2026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202604655173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 ESTRUTURAL BM1080KS02 RISCO ALTO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25/09/2026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202604699069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INSP. ESTRUT TR1085KS02 RISCO ALTO MOD05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BFE/Usina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28/09/2026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dias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PLANOS DE 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de 8 ações concluídas; 2 abertas no prazo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Ações corretivas registradas no Bwise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8293379" cy="18288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6" name="Shape 4"/>
          <p:cNvSpPr/>
          <p:nvPr/>
        </p:nvSpPr>
        <p:spPr>
          <a:xfrm>
            <a:off x="8869451" y="1572768"/>
            <a:ext cx="2773604" cy="182880"/>
          </a:xfrm>
          <a:prstGeom prst="rect">
            <a:avLst/>
          </a:prstGeom>
          <a:solidFill>
            <a:srgbClr val="FAB21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38528"/>
            <a:ext cx="118872" cy="118872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47088"/>
            <a:ext cx="3515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Concluídas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6778" y="1938528"/>
            <a:ext cx="118872" cy="118872"/>
          </a:xfrm>
          <a:prstGeom prst="rect">
            <a:avLst/>
          </a:prstGeom>
          <a:solidFill>
            <a:srgbClr val="FAB219"/>
          </a:solidFill>
          <a:ln/>
        </p:spPr>
      </p:sp>
      <p:sp>
        <p:nvSpPr>
          <p:cNvPr id="10" name="Text 8"/>
          <p:cNvSpPr/>
          <p:nvPr/>
        </p:nvSpPr>
        <p:spPr>
          <a:xfrm>
            <a:off x="4429658" y="1847088"/>
            <a:ext cx="3515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prazo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44917" y="1938528"/>
            <a:ext cx="118872" cy="118872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2" name="Text 10"/>
          <p:cNvSpPr/>
          <p:nvPr/>
        </p:nvSpPr>
        <p:spPr>
          <a:xfrm>
            <a:off x="8127797" y="1847088"/>
            <a:ext cx="3515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</a:t>
            </a:r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Vencidas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463040"/>
                <a:gridCol w="5349240"/>
                <a:gridCol w="1234440"/>
                <a:gridCol w="13533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CÓDIGO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APONTAMENTO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VENCIMENTO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SITUAÇÃO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AP-24-11-38426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ISH-000023162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Executar pesagem da EP2020KS03 considerando procedimento elaborado pela Engenharia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01/12/2026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No prazo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AP-25-04-41217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ISH-000024261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Implementar Monitoramento online das estruturas através de inclinômetro no Túnel TN1085KS02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15/12/2026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5B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No prazo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AP-24-08-35855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ISH-000022050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Revisar onepage do controle nos tópicos abaixo: * Atividades que podem ser verificadas para atestar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30/09/2024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Concluída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AP-24-10-37753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ISH-000022935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Fortalecimento - Revisar a numeração dos planos sistemáticos para coberturas através da inclusão 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30/11/2024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Concluída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AP-24-11-38427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ISH-000023162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Realizar alteração da One Pager do teste de controle (inserir os planos de manutenção N1/N2, corrig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06/12/2024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Concluída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AP-24-11-38181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ISH-000023082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Fortalecimento - Revisar a numeração dos planos sistemáticos para coberturas através da inclusão 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31/12/2024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Concluída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AP-25-08-42991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ISH-000025044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HIRA2C - Priorizar a primeira rodada da inspeção N2 dos silos 1 e 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24/10/2025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Concluída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AP-25-12-45321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ISH-000025044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HIRA2C - Elaborar a onepager e realizar o teste de controle para Inspeção Estrutural Nível 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28/01/2026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7B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●  Concluída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prioridades para o próximo ciclo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vermelho, o que já está vencido ou vence em até 15 dias · responsável e prazo vêm das tratativas registradas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36776"/>
            <a:ext cx="457200" cy="45720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Executar o teste do CTH-000030053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929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Vence em 11/10/2026 — o vencimento mais próximo da carteira.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46920" y="1673352"/>
            <a:ext cx="1993392" cy="36576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9646920" y="167335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11/10/2026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2423160"/>
            <a:ext cx="10408615" cy="9144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23744"/>
            <a:ext cx="457200" cy="45720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4871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Realizar o 1º teste do CTH-000033567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816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Cadastrar o One Pager e registrar o primeiro teste no Bwise. Aprovação do risco até 29/10/2026.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46920" y="2560320"/>
            <a:ext cx="1993392" cy="36576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25603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22/10/2026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3310128"/>
            <a:ext cx="10408615" cy="9144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374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Regularizar 12 ordens de inspeção atrasadas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Maior atraso: 202603680679 — INSPECAO ESTRUTURAL N3 LANÇA EP2020KS01 (22 dias).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46920" y="3447288"/>
            <a:ext cx="1993392" cy="36576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/>
        </p:spPr>
      </p:sp>
      <p:sp>
        <p:nvSpPr>
          <p:cNvPr id="24" name="Text 22"/>
          <p:cNvSpPr/>
          <p:nvPr/>
        </p:nvSpPr>
        <p:spPr>
          <a:xfrm>
            <a:off x="9646920" y="34472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Imediato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34440" y="4197096"/>
            <a:ext cx="10408615" cy="9144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2611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Repactuar ou concluir 2 notas vencidas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Começar pelas 0 de prioridade alta (P1).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46920" y="4334256"/>
            <a:ext cx="1993392" cy="36576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43342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ciclo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34440" y="5084064"/>
            <a:ext cx="10408615" cy="9144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184648"/>
            <a:ext cx="457200" cy="457200"/>
          </a:xfrm>
          <a:prstGeom prst="ellipse">
            <a:avLst/>
          </a:prstGeom>
          <a:solidFill>
            <a:srgbClr val="00695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4440" y="51480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Conciliar 3 divergências de ativos com o Bwise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34440" y="5477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CTH-000013440, CTH-000013586, CTH-000014809 diferem da base SAP.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46920" y="5221224"/>
            <a:ext cx="1993392" cy="365760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/>
        </p:spPr>
      </p:sp>
      <p:sp>
        <p:nvSpPr>
          <p:cNvPr id="38" name="Text 36"/>
          <p:cNvSpPr/>
          <p:nvPr/>
        </p:nvSpPr>
        <p:spPr>
          <a:xfrm>
            <a:off x="9646920" y="522122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4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ciclo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 e critérios de cálculo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73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FRENTE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FONTE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60" kern="0" dirty="0">
                          <a:solidFill>
                            <a:srgbClr val="7A849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CRITÉRIO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Farol de testes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Bwise · Testes de Controle (aba Serra Sul) — dono Rodrigo Coji Kimati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"Próximo" = vence em até 60 dias da data-base; ND = sem histórico de teste.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Ativos críticos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· Ativos críticos (Código do Risco), conciliado com o Bwise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Somente ativos estruturais; um vínculo por par risco-ativo; conciliação com a contagem do Bwise.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 SAP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PM · Notas SAP.xlsx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Vencida = conclusão desejada anterior à data-base. Rejeitadas (REJE) excluídas. Ano de abertura = prefixo do nº.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Ordens de inspeção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PM · Ordens de Inspeção (atividade INP) × planos dos ativos críticos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Somente INSES. Atraso = dias entre o início programado e a data-base.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Planos de ação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Bwise · planos de ação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Situação conforme Bwise; vencida = aberta com vencimento anterior à data-base.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Equipamentos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Derivado das bases acima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4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de instalação sem o sufixo de estrutura (-ST1…); pendência crítica = nota vencida ou ordem atrasada.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94415" cy="566928"/>
          </a:xfrm>
          <a:prstGeom prst="rect">
            <a:avLst/>
          </a:prstGeom>
          <a:solidFill>
            <a:srgbClr val="E3F2EF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5440680"/>
            <a:ext cx="45720" cy="566928"/>
          </a:xfrm>
          <a:prstGeom prst="rect">
            <a:avLst/>
          </a:prstGeom>
          <a:solidFill>
            <a:srgbClr val="00695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5440680"/>
            <a:ext cx="10774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Data-base: 30/09/2026. Apresentação gerada pelo painel FMDS Gestão de Riscos v8.1 — os números são os mesmos exibidos no sistema.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695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Vale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FMDS Gestão de Riscos — Serra Sul · S11D</dc:title>
  <dc:subject>Reporte executivo de integridade estrutural</dc:subject>
  <dc:creator>Gerência de Integridade Estrutural</dc:creator>
  <cp:lastModifiedBy>Gerência de Integridade Estrutural</cp:lastModifiedBy>
  <cp:revision>1</cp:revision>
  <dcterms:created xsi:type="dcterms:W3CDTF">2026-10-01T23:10:08Z</dcterms:created>
  <dcterms:modified xsi:type="dcterms:W3CDTF">2026-10-01T23:10:08Z</dcterms:modified>
</cp:coreProperties>
</file>