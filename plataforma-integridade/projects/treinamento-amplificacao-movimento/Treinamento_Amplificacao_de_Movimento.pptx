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852160" cy="5852160"/>
          </a:xfrm>
          <a:prstGeom prst="ellipse">
            <a:avLst/>
          </a:prstGeom>
          <a:ln w="330200">
            <a:solidFill>
              <a:srgbClr val="B01E2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2011680"/>
            <a:ext cx="3108960" cy="3108960"/>
          </a:xfrm>
          <a:prstGeom prst="ellipse">
            <a:avLst/>
          </a:prstGeom>
          <a:ln w="1524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170432"/>
            <a:ext cx="6858000" cy="384048"/>
          </a:xfrm>
          <a:prstGeom prst="rect">
            <a:avLst/>
          </a:prstGeom>
          <a:solidFill>
            <a:srgbClr val="B01E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BÁSICO · NÍVEL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" y="173736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</a:t>
            </a:r>
            <a:endParaRPr lang="en-US" sz="56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66928" y="391363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treinamento do sistema Motion Amplification® — câmeras Iris M / Iris MX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4956048"/>
            <a:ext cx="8412480" cy="0"/>
          </a:xfrm>
          <a:prstGeom prst="line">
            <a:avLst/>
          </a:prstGeom>
          <a:noFill/>
          <a:ln w="12700">
            <a:solidFill>
              <a:srgbClr val="5555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5413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baseado no manual v3.5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79776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79776" y="5413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dias · 8 seções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92624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92624" y="5413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exercícios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05472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CERTIFICAÇÃO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05472" y="5413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 Nível 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do treinamento — 3 dias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3533546" cy="4572000"/>
          </a:xfrm>
          <a:prstGeom prst="roundRect">
            <a:avLst>
              <a:gd name="adj" fmla="val 2588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54480"/>
            <a:ext cx="3533546" cy="566928"/>
          </a:xfrm>
          <a:prstGeom prst="roundRect">
            <a:avLst>
              <a:gd name="adj" fmla="val 16129"/>
            </a:avLst>
          </a:prstGeom>
          <a:solidFill>
            <a:srgbClr val="23232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54480"/>
            <a:ext cx="3240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dia — Fundamentos e aquisição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286000"/>
            <a:ext cx="316778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Chegada e apresentações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Introdução ao MA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09:30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Câmera, iluminação e lentes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10:45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Motion Explorer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Almoço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Aquisição RDI (até 17:00)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074" y="1554480"/>
            <a:ext cx="3533546" cy="4572000"/>
          </a:xfrm>
          <a:prstGeom prst="roundRect">
            <a:avLst>
              <a:gd name="adj" fmla="val 2588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9074" y="1554480"/>
            <a:ext cx="3533546" cy="566928"/>
          </a:xfrm>
          <a:prstGeom prst="roundRect">
            <a:avLst>
              <a:gd name="adj" fmla="val 16129"/>
            </a:avLst>
          </a:prstGeom>
          <a:solidFill>
            <a:srgbClr val="232329"/>
          </a:solidFill>
          <a:ln/>
        </p:spPr>
      </p:sp>
      <p:sp>
        <p:nvSpPr>
          <p:cNvPr id="11" name="Text 9"/>
          <p:cNvSpPr/>
          <p:nvPr/>
        </p:nvSpPr>
        <p:spPr>
          <a:xfrm>
            <a:off x="4475378" y="1554480"/>
            <a:ext cx="3240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2º dia — Análise e edição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11954" y="2286000"/>
            <a:ext cx="316778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08:15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· Amplificação de Movimento RDI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Almoço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de dados de campo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15:45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· Motion Studio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 do dia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1221" y="1554480"/>
            <a:ext cx="3533546" cy="4572000"/>
          </a:xfrm>
          <a:prstGeom prst="roundRect">
            <a:avLst>
              <a:gd name="adj" fmla="val 2588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1221" y="1554480"/>
            <a:ext cx="3533546" cy="566928"/>
          </a:xfrm>
          <a:prstGeom prst="roundRect">
            <a:avLst>
              <a:gd name="adj" fmla="val 16129"/>
            </a:avLst>
          </a:prstGeom>
          <a:solidFill>
            <a:srgbClr val="232329"/>
          </a:solidFill>
          <a:ln/>
        </p:spPr>
      </p:sp>
      <p:sp>
        <p:nvSpPr>
          <p:cNvPr id="15" name="Text 13"/>
          <p:cNvSpPr/>
          <p:nvPr/>
        </p:nvSpPr>
        <p:spPr>
          <a:xfrm>
            <a:off x="8237525" y="1554480"/>
            <a:ext cx="32409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3º dia — Consolidação e certificação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4101" y="2286000"/>
            <a:ext cx="316778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08:15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· Manutenção do banco de dados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09:45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 classe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dos projetos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13:45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 · Solução de problemas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 de Certificação Nível I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  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e dispensa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dominar em 8 seções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09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Introdução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020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Motion Amplification®, comparação com análise de vibração, fase e ODS; unidades de amplitude.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1680" y="1600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6272" y="1709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Câmeras e lentes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46272" y="2020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M e Iris MX, distância focal, abertura, profundidade de campo, tripé e iluminação.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6432" y="1600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1024" y="1709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Motion Explorer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61024" y="2020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4 aplicativos e a hierarquia de pastas, ativos e coleções; primeira gravação.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11183" y="1600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5775" y="1709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RDI Acquisition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75775" y="2020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Framerate, exposição, saturação, resolução de deslocamento, corte, gatilho e inspeção de eixo.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886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95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Motion Amplification®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306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Amplificação, exportação, filtros, mapas de movimento e fase, ROIs, gráficos e estabilização.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1680" y="3886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6272" y="3995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Motion Studio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546272" y="4306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Montagem de filmes: títulos, compostos, transições, narração e projeto final.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6432" y="3886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1024" y="3995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Banco de dados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61024" y="4306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Exportar, importar e mover gravações para manter a unidade de aquisição saudável.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11183" y="3886200"/>
            <a:ext cx="2613584" cy="2084832"/>
          </a:xfrm>
          <a:prstGeom prst="roundRect">
            <a:avLst>
              <a:gd name="adj" fmla="val 394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75775" y="399592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Troubleshooting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75775" y="4306824"/>
            <a:ext cx="228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Flicker de iluminação, tremor de câmera e efeito roda de carruagem.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 ·  1º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à Amplificação de Movimento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Apresentar a tecnologia Motion Amplification®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o MA com outras tecnologias de manutenção preditiva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as unidades de amplitude de vibração usadas no MA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global da tecnologia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que torna visíveis movimentos microscópicos, invisíveis a olho nu.</a:t>
            </a:r>
            <a:endParaRPr lang="en-US" sz="15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de alta velocidade + algoritmos patenteados processam a filmagem e geram um arquivo de dados analisável no software.</a:t>
            </a:r>
            <a:endParaRPr lang="en-US" sz="15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vídeo passa a ser o próprio relatório: o movimento anômalo é mostrado, não apenas inferido.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977640"/>
            <a:ext cx="6492240" cy="2103120"/>
          </a:xfrm>
          <a:prstGeom prst="roundRect">
            <a:avLst>
              <a:gd name="adj" fmla="val 4348"/>
            </a:avLst>
          </a:prstGeom>
          <a:solidFill>
            <a:srgbClr val="FBEAEB"/>
          </a:solidFill>
          <a:ln w="15875">
            <a:solidFill>
              <a:srgbClr val="B01E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41605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CENTRAL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448056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pixel do vídeo vira um sensor</a:t>
            </a:r>
            <a:pPr indent="0" marL="0">
              <a:buNone/>
            </a:pPr>
            <a:r>
              <a:rPr lang="en-US" sz="14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capaz de medir vibração e movimento — milhões de pontos de medição simultâneos, contra 10 ou 12 pontos de uma rota típica.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52360" y="160020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232329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PONTOS…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219456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5048" y="219456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8951976" y="219456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9518904" y="219456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85832" y="219456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52760" y="219456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7" name="Shape 15"/>
          <p:cNvSpPr/>
          <p:nvPr/>
        </p:nvSpPr>
        <p:spPr>
          <a:xfrm>
            <a:off x="7818120" y="269748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5048" y="269748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19" name="Shape 17"/>
          <p:cNvSpPr/>
          <p:nvPr/>
        </p:nvSpPr>
        <p:spPr>
          <a:xfrm>
            <a:off x="8951976" y="269748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20" name="Shape 18"/>
          <p:cNvSpPr/>
          <p:nvPr/>
        </p:nvSpPr>
        <p:spPr>
          <a:xfrm>
            <a:off x="9518904" y="269748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85832" y="269748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52760" y="2697480"/>
            <a:ext cx="182880" cy="182880"/>
          </a:xfrm>
          <a:prstGeom prst="ellipse">
            <a:avLst/>
          </a:prstGeom>
          <a:solidFill>
            <a:srgbClr val="5A5A66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…PARA MILHÕES DE PIXELS-SENSORES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3749040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25" name="Shape 23"/>
          <p:cNvSpPr/>
          <p:nvPr/>
        </p:nvSpPr>
        <p:spPr>
          <a:xfrm>
            <a:off x="8037576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26" name="Shape 24"/>
          <p:cNvSpPr/>
          <p:nvPr/>
        </p:nvSpPr>
        <p:spPr>
          <a:xfrm>
            <a:off x="8302752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27" name="Shape 25"/>
          <p:cNvSpPr/>
          <p:nvPr/>
        </p:nvSpPr>
        <p:spPr>
          <a:xfrm>
            <a:off x="8567928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28" name="Shape 26"/>
          <p:cNvSpPr/>
          <p:nvPr/>
        </p:nvSpPr>
        <p:spPr>
          <a:xfrm>
            <a:off x="8833104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29" name="Shape 27"/>
          <p:cNvSpPr/>
          <p:nvPr/>
        </p:nvSpPr>
        <p:spPr>
          <a:xfrm>
            <a:off x="9098280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0" name="Shape 28"/>
          <p:cNvSpPr/>
          <p:nvPr/>
        </p:nvSpPr>
        <p:spPr>
          <a:xfrm>
            <a:off x="9363456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1" name="Shape 29"/>
          <p:cNvSpPr/>
          <p:nvPr/>
        </p:nvSpPr>
        <p:spPr>
          <a:xfrm>
            <a:off x="9628632" y="3749040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32" name="Shape 30"/>
          <p:cNvSpPr/>
          <p:nvPr/>
        </p:nvSpPr>
        <p:spPr>
          <a:xfrm>
            <a:off x="9893808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58984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24160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89336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54512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19688" y="3749040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0" y="4014216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39" name="Shape 37"/>
          <p:cNvSpPr/>
          <p:nvPr/>
        </p:nvSpPr>
        <p:spPr>
          <a:xfrm>
            <a:off x="8037576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0" name="Shape 38"/>
          <p:cNvSpPr/>
          <p:nvPr/>
        </p:nvSpPr>
        <p:spPr>
          <a:xfrm>
            <a:off x="8302752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1" name="Shape 39"/>
          <p:cNvSpPr/>
          <p:nvPr/>
        </p:nvSpPr>
        <p:spPr>
          <a:xfrm>
            <a:off x="8567928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2" name="Shape 40"/>
          <p:cNvSpPr/>
          <p:nvPr/>
        </p:nvSpPr>
        <p:spPr>
          <a:xfrm>
            <a:off x="8833104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3" name="Shape 41"/>
          <p:cNvSpPr/>
          <p:nvPr/>
        </p:nvSpPr>
        <p:spPr>
          <a:xfrm>
            <a:off x="9098280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4" name="Shape 42"/>
          <p:cNvSpPr/>
          <p:nvPr/>
        </p:nvSpPr>
        <p:spPr>
          <a:xfrm>
            <a:off x="9363456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5" name="Shape 43"/>
          <p:cNvSpPr/>
          <p:nvPr/>
        </p:nvSpPr>
        <p:spPr>
          <a:xfrm>
            <a:off x="9628632" y="4014216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46" name="Shape 44"/>
          <p:cNvSpPr/>
          <p:nvPr/>
        </p:nvSpPr>
        <p:spPr>
          <a:xfrm>
            <a:off x="9893808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0158984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24160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89336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54512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1" name="Shape 49"/>
          <p:cNvSpPr/>
          <p:nvPr/>
        </p:nvSpPr>
        <p:spPr>
          <a:xfrm>
            <a:off x="11219688" y="4014216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2" name="Shape 50"/>
          <p:cNvSpPr/>
          <p:nvPr/>
        </p:nvSpPr>
        <p:spPr>
          <a:xfrm>
            <a:off x="7772400" y="4279392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53" name="Shape 51"/>
          <p:cNvSpPr/>
          <p:nvPr/>
        </p:nvSpPr>
        <p:spPr>
          <a:xfrm>
            <a:off x="8037576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4" name="Shape 52"/>
          <p:cNvSpPr/>
          <p:nvPr/>
        </p:nvSpPr>
        <p:spPr>
          <a:xfrm>
            <a:off x="8302752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5" name="Shape 53"/>
          <p:cNvSpPr/>
          <p:nvPr/>
        </p:nvSpPr>
        <p:spPr>
          <a:xfrm>
            <a:off x="8567928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6" name="Shape 54"/>
          <p:cNvSpPr/>
          <p:nvPr/>
        </p:nvSpPr>
        <p:spPr>
          <a:xfrm>
            <a:off x="8833104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7" name="Shape 55"/>
          <p:cNvSpPr/>
          <p:nvPr/>
        </p:nvSpPr>
        <p:spPr>
          <a:xfrm>
            <a:off x="9098280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8" name="Shape 56"/>
          <p:cNvSpPr/>
          <p:nvPr/>
        </p:nvSpPr>
        <p:spPr>
          <a:xfrm>
            <a:off x="9363456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59" name="Shape 57"/>
          <p:cNvSpPr/>
          <p:nvPr/>
        </p:nvSpPr>
        <p:spPr>
          <a:xfrm>
            <a:off x="9628632" y="4279392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0" name="Shape 58"/>
          <p:cNvSpPr/>
          <p:nvPr/>
        </p:nvSpPr>
        <p:spPr>
          <a:xfrm>
            <a:off x="9893808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58984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2" name="Shape 60"/>
          <p:cNvSpPr/>
          <p:nvPr/>
        </p:nvSpPr>
        <p:spPr>
          <a:xfrm>
            <a:off x="10424160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3" name="Shape 61"/>
          <p:cNvSpPr/>
          <p:nvPr/>
        </p:nvSpPr>
        <p:spPr>
          <a:xfrm>
            <a:off x="10689336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4" name="Shape 62"/>
          <p:cNvSpPr/>
          <p:nvPr/>
        </p:nvSpPr>
        <p:spPr>
          <a:xfrm>
            <a:off x="10954512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5" name="Shape 63"/>
          <p:cNvSpPr/>
          <p:nvPr/>
        </p:nvSpPr>
        <p:spPr>
          <a:xfrm>
            <a:off x="11219688" y="4279392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6" name="Shape 64"/>
          <p:cNvSpPr/>
          <p:nvPr/>
        </p:nvSpPr>
        <p:spPr>
          <a:xfrm>
            <a:off x="7772400" y="4544568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7" name="Shape 65"/>
          <p:cNvSpPr/>
          <p:nvPr/>
        </p:nvSpPr>
        <p:spPr>
          <a:xfrm>
            <a:off x="8037576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8" name="Shape 66"/>
          <p:cNvSpPr/>
          <p:nvPr/>
        </p:nvSpPr>
        <p:spPr>
          <a:xfrm>
            <a:off x="8302752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69" name="Shape 67"/>
          <p:cNvSpPr/>
          <p:nvPr/>
        </p:nvSpPr>
        <p:spPr>
          <a:xfrm>
            <a:off x="8567928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0" name="Shape 68"/>
          <p:cNvSpPr/>
          <p:nvPr/>
        </p:nvSpPr>
        <p:spPr>
          <a:xfrm>
            <a:off x="8833104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1" name="Shape 69"/>
          <p:cNvSpPr/>
          <p:nvPr/>
        </p:nvSpPr>
        <p:spPr>
          <a:xfrm>
            <a:off x="9098280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2" name="Shape 70"/>
          <p:cNvSpPr/>
          <p:nvPr/>
        </p:nvSpPr>
        <p:spPr>
          <a:xfrm>
            <a:off x="9363456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3" name="Shape 71"/>
          <p:cNvSpPr/>
          <p:nvPr/>
        </p:nvSpPr>
        <p:spPr>
          <a:xfrm>
            <a:off x="9628632" y="4544568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74" name="Shape 72"/>
          <p:cNvSpPr/>
          <p:nvPr/>
        </p:nvSpPr>
        <p:spPr>
          <a:xfrm>
            <a:off x="9893808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5" name="Shape 73"/>
          <p:cNvSpPr/>
          <p:nvPr/>
        </p:nvSpPr>
        <p:spPr>
          <a:xfrm>
            <a:off x="10158984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6" name="Shape 74"/>
          <p:cNvSpPr/>
          <p:nvPr/>
        </p:nvSpPr>
        <p:spPr>
          <a:xfrm>
            <a:off x="10424160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7" name="Shape 75"/>
          <p:cNvSpPr/>
          <p:nvPr/>
        </p:nvSpPr>
        <p:spPr>
          <a:xfrm>
            <a:off x="10689336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954512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79" name="Shape 77"/>
          <p:cNvSpPr/>
          <p:nvPr/>
        </p:nvSpPr>
        <p:spPr>
          <a:xfrm>
            <a:off x="11219688" y="4544568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0" name="Shape 78"/>
          <p:cNvSpPr/>
          <p:nvPr/>
        </p:nvSpPr>
        <p:spPr>
          <a:xfrm>
            <a:off x="7772400" y="4809744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81" name="Shape 79"/>
          <p:cNvSpPr/>
          <p:nvPr/>
        </p:nvSpPr>
        <p:spPr>
          <a:xfrm>
            <a:off x="8037576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2" name="Shape 80"/>
          <p:cNvSpPr/>
          <p:nvPr/>
        </p:nvSpPr>
        <p:spPr>
          <a:xfrm>
            <a:off x="8302752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3" name="Shape 81"/>
          <p:cNvSpPr/>
          <p:nvPr/>
        </p:nvSpPr>
        <p:spPr>
          <a:xfrm>
            <a:off x="8567928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4" name="Shape 82"/>
          <p:cNvSpPr/>
          <p:nvPr/>
        </p:nvSpPr>
        <p:spPr>
          <a:xfrm>
            <a:off x="8833104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5" name="Shape 83"/>
          <p:cNvSpPr/>
          <p:nvPr/>
        </p:nvSpPr>
        <p:spPr>
          <a:xfrm>
            <a:off x="9098280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6" name="Shape 84"/>
          <p:cNvSpPr/>
          <p:nvPr/>
        </p:nvSpPr>
        <p:spPr>
          <a:xfrm>
            <a:off x="9363456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7" name="Shape 85"/>
          <p:cNvSpPr/>
          <p:nvPr/>
        </p:nvSpPr>
        <p:spPr>
          <a:xfrm>
            <a:off x="9628632" y="4809744"/>
            <a:ext cx="201168" cy="20116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88" name="Shape 86"/>
          <p:cNvSpPr/>
          <p:nvPr/>
        </p:nvSpPr>
        <p:spPr>
          <a:xfrm>
            <a:off x="9893808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9" name="Shape 87"/>
          <p:cNvSpPr/>
          <p:nvPr/>
        </p:nvSpPr>
        <p:spPr>
          <a:xfrm>
            <a:off x="10158984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90" name="Shape 88"/>
          <p:cNvSpPr/>
          <p:nvPr/>
        </p:nvSpPr>
        <p:spPr>
          <a:xfrm>
            <a:off x="10424160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91" name="Shape 89"/>
          <p:cNvSpPr/>
          <p:nvPr/>
        </p:nvSpPr>
        <p:spPr>
          <a:xfrm>
            <a:off x="10689336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92" name="Shape 90"/>
          <p:cNvSpPr/>
          <p:nvPr/>
        </p:nvSpPr>
        <p:spPr>
          <a:xfrm>
            <a:off x="10954512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93" name="Shape 91"/>
          <p:cNvSpPr/>
          <p:nvPr/>
        </p:nvSpPr>
        <p:spPr>
          <a:xfrm>
            <a:off x="11219688" y="4809744"/>
            <a:ext cx="201168" cy="201168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94" name="Text 92"/>
          <p:cNvSpPr/>
          <p:nvPr/>
        </p:nvSpPr>
        <p:spPr>
          <a:xfrm>
            <a:off x="7680960" y="5349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simultânea = fase incluída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do Motion Amplification®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09928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segurança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020824"/>
            <a:ext cx="32226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100% sem contato — ninguém toca a máquina em operação.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9930" y="160020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4522" y="1709928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parada não planejada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84522" y="2020824"/>
            <a:ext cx="32226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fica visível; ações corretivas são planejadas com precisão.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72933" y="1600200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7525" y="1709928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Apoia a análise de causa raiz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37525" y="2020824"/>
            <a:ext cx="32226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Muitas vezes a causa raiz é visualmente aparente no vídeo.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55848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65576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Aplicações diversas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3776472"/>
            <a:ext cx="32226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Rotativas, alternativas, estruturas, linhas de produção, tubulações…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9930" y="3355848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4522" y="3465576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e fácil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84522" y="3776472"/>
            <a:ext cx="32226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 preparação; a coleta dura segundos — ideal para troubleshooting.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2933" y="3355848"/>
            <a:ext cx="3551834" cy="1554480"/>
          </a:xfrm>
          <a:prstGeom prst="roundRect">
            <a:avLst>
              <a:gd name="adj" fmla="val 529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7525" y="3465576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acessível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37525" y="3776472"/>
            <a:ext cx="322265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em vídeo padrão, entendido do chão de fábrica à gerência.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98348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05663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TREINAMENTO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análise de vibração tradicional leva anos; o treinamento em Amplificação de Movimento leva alguns dias.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tradicionais — análise de vibração de rota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típico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Pré-definir os pontos de medição e organizá-los no software de análise;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Transferir as rotas para o coletor portátil de vibração;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Posicionar o acelerômetro ponto a ponto até concluir a rota;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Transferir os dados de volta e analisar.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55080" y="153619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938528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experiente obrigatório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formação para interpretar espectros e formas de onda leva mais de dois anos.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às vezes inconclusivos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Exigem análise de fase ou ODS complementar para achar a causa raiz.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não simultânea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informação de fase precisa ser obtida em um processo separado.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525780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330952"/>
            <a:ext cx="1076523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TRADICIONAL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baseado em FFT/espectros — difícil de comunicar: que condição gera esse espectro? que tipo de folga? onde? Explicar isso a um gestor é um desafio.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fase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recurso avançado quando a análise de rota não identifica a causa raiz.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 a relação temporal entre os movimentos das partes da máquina.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Caracteriza: desbalanceamento, folga, desalinhamento, pé manco, eixo empenado.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749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 tradicional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Parar a máquina p/ fita reflexiva no eixo (1 canal + foto-tacômetro) ou montar sensor de referência (2 canais);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amplitude e fase ponto a ponto;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manualmente o diagrama de bolhas;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 (de novo: analista experiente) e traduzir p/ mecânicos e gestores.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bolhas (esquema)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3931920"/>
            <a:ext cx="1920240" cy="1234440"/>
          </a:xfrm>
          <a:prstGeom prst="rect">
            <a:avLst/>
          </a:prstGeom>
          <a:solidFill>
            <a:srgbClr val="D9D9DF"/>
          </a:solidFill>
          <a:ln w="12700">
            <a:solidFill>
              <a:srgbClr val="6B6B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393192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5440" y="3931920"/>
            <a:ext cx="1920240" cy="1234440"/>
          </a:xfrm>
          <a:prstGeom prst="rect">
            <a:avLst/>
          </a:prstGeom>
          <a:solidFill>
            <a:srgbClr val="D9D9DF"/>
          </a:solidFill>
          <a:ln w="12700">
            <a:solidFill>
              <a:srgbClr val="6B6B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393192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Bomba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108960"/>
            <a:ext cx="566928" cy="566928"/>
          </a:xfrm>
          <a:prstGeom prst="ellipse">
            <a:avLst/>
          </a:prstGeom>
          <a:solidFill>
            <a:srgbClr val="FBEAEB"/>
          </a:solidFill>
          <a:ln w="19050">
            <a:solidFill>
              <a:srgbClr val="B01E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58584" y="31089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2788920"/>
            <a:ext cx="566928" cy="566928"/>
          </a:xfrm>
          <a:prstGeom prst="ellipse">
            <a:avLst/>
          </a:prstGeom>
          <a:solidFill>
            <a:srgbClr val="FBEAEB"/>
          </a:solidFill>
          <a:ln w="19050">
            <a:solidFill>
              <a:srgbClr val="B01E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27889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18320" y="3017520"/>
            <a:ext cx="566928" cy="566928"/>
          </a:xfrm>
          <a:prstGeom prst="ellipse">
            <a:avLst/>
          </a:prstGeom>
          <a:solidFill>
            <a:srgbClr val="FBEAEB"/>
          </a:solidFill>
          <a:ln w="19050">
            <a:solidFill>
              <a:srgbClr val="B01E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30175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332720" y="3291840"/>
            <a:ext cx="566928" cy="566928"/>
          </a:xfrm>
          <a:prstGeom prst="ellipse">
            <a:avLst/>
          </a:prstGeom>
          <a:solidFill>
            <a:srgbClr val="FBEAEB"/>
          </a:solidFill>
          <a:ln w="19050">
            <a:solidFill>
              <a:srgbClr val="B01E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50424" y="329184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53949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Ângulo (0–360°) medido ponto a ponto, um por vez — e só um analista experiente lê o resultado.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 — Forma de Deflexão Operacional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Esboçar a máquina;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amplitude + fase em muitos pontos e direções;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Transferir ao software ODS e criar um modelo da máquina;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Numerar e associar os pontos medidos ao modelo;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Animar, gerar o vídeo e enviar com as recomendações.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4663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736592"/>
            <a:ext cx="5102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do diagrama de bolhas, o analista vê uma animação 3D do movimento da máquina.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153619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Desvantagens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92024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 e software ODS adquiridos à parte;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Modelagem: horas ou dias · coleta: horas;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de dados ruins e de erros de associação ao modelo;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com centenas de pontos, o ponto crucial pode faltar;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animação inclui movimentos interpolados — não medidos;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Transientes: quase impossíveis sem muitos canais simultâneos.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 combina os três mundos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926080"/>
                <a:gridCol w="30998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 tradicional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/ ODS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 Amplification®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Pontos de medição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10–12 típicos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Dezenas–centenas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Milhões (cada pixel)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 separado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 o objetivo, ponto a ponto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Incluída — coleta simultânea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Espectros/onda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Bolhas / animação 3D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Vídeo do movimento real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a dias (ODS)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Nenhuma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Transientes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Difícil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Quase impossível (ODS)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Capturados na gravação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Exige tradução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Exige tradução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mundo entende o vídeo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amplitude de vibração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62763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FUNDAMENTAL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unidade nativa do MA é DESLOCAMENTO — mícrons (µm) ou mils. O analisador FFT típico mede aceleração em 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514600"/>
            <a:ext cx="3533546" cy="2103120"/>
          </a:xfrm>
          <a:prstGeom prst="roundRect">
            <a:avLst>
              <a:gd name="adj" fmla="val 4348"/>
            </a:avLst>
          </a:prstGeom>
          <a:solidFill>
            <a:srgbClr val="FBEAEB"/>
          </a:solidFill>
          <a:ln w="15875">
            <a:solidFill>
              <a:srgbClr val="B01E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69748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Deslocamento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3090672"/>
            <a:ext cx="3167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µm · mils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3429000"/>
            <a:ext cx="3167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Acentua BAIXAS frequências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4041648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que o MA mede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9074" y="2514600"/>
            <a:ext cx="3533546" cy="2103120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5875">
            <a:solidFill>
              <a:srgbClr val="1C5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1954" y="269748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11954" y="3090672"/>
            <a:ext cx="3167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mm/s · in/s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11954" y="3429000"/>
            <a:ext cx="3167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Consistente em todas as frequências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1954" y="4041648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da análise de máquinas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1221" y="2514600"/>
            <a:ext cx="3533546" cy="2103120"/>
          </a:xfrm>
          <a:prstGeom prst="roundRect">
            <a:avLst>
              <a:gd name="adj" fmla="val 4348"/>
            </a:avLst>
          </a:prstGeom>
          <a:solidFill>
            <a:srgbClr val="EDF6F0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4101" y="2697480"/>
            <a:ext cx="31677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Aceleração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74101" y="3090672"/>
            <a:ext cx="3167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74101" y="3429000"/>
            <a:ext cx="31677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Acentua ALTAS frequências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4101" y="4041648"/>
            <a:ext cx="3167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do FFT tradicional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892040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Acelerômetros sofrem abaixo de 2 Hz (120 CPM) — os valores de aceleração ficam minúsculos.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 mede deslocamento real: excelente também em máquinas de giro bem lento.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INTRODUÇÃO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de força — quem enxerga o quê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1760" cy="3017520"/>
          </a:xfrm>
          <a:prstGeom prst="roundRect">
            <a:avLst>
              <a:gd name="adj" fmla="val 2727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Fáceis para o MA (baixa frequência)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506257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Desbalanceamento · Desalinhamento · Folgas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as funções de força mais identificadas pela Amplificação de Movimento — dominantes em deslocamento.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391760" cy="3017520"/>
          </a:xfrm>
          <a:prstGeom prst="roundRect">
            <a:avLst>
              <a:gd name="adj" fmla="val 272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Melhores no método tradicional (alta frequência)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97600" y="2112264"/>
            <a:ext cx="506257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Defeitos de rolamentos · Engrenamentos · Lubrificação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Fenômenos de alta frequência: mais bem detectados e analisados pela análise de vibração convencional.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5029200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102352"/>
            <a:ext cx="107652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e análise de vibração tradicional não competem — se complementam.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1 · REVISÃO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de fixação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MA é mais seguro que a rota tradicional?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sem contato — ninguém toca a máquina em operação.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nativa de amplitude do MA?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Deslocamento: mícrons (µm) ou mils.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3300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 do MA para a ODS?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simultânea de todos os pixels, sem modelagem e sem pontos interpolados — fase já embutida.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de força mais fáceis para o MA?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Desbalanceamento, desalinhamento e folgas.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 ·  1º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Câmeras, Iluminação e Lentes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técnicas básicas de fotografia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os equipamentos dos kits Iris M e Iris MX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a terminologia da aquisição de dados no MA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câmera Iris 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Iris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CMOS 12 bits · 1920 × 1200 px (&gt; 2,3 MP) · escala de cinza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Framerate padrão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FPS em resolução plena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Framerate máximo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1.300 FPS com resolução reduzida (ex.: 450 × 420 px)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3.0 — energia + vídeo em tempo real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Conector com trava · porta GPIO p/ tacômetro a laser opcional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0020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2323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0" y="2148840"/>
            <a:ext cx="2286000" cy="1463040"/>
          </a:xfrm>
          <a:prstGeom prst="roundRect">
            <a:avLst>
              <a:gd name="adj" fmla="val 3750"/>
            </a:avLst>
          </a:prstGeom>
          <a:solidFill>
            <a:srgbClr val="3A3A44"/>
          </a:solidFill>
          <a:ln/>
        </p:spPr>
      </p:sp>
      <p:sp>
        <p:nvSpPr>
          <p:cNvPr id="8" name="Shape 5"/>
          <p:cNvSpPr/>
          <p:nvPr/>
        </p:nvSpPr>
        <p:spPr>
          <a:xfrm>
            <a:off x="10378440" y="2377440"/>
            <a:ext cx="960120" cy="960120"/>
          </a:xfrm>
          <a:prstGeom prst="ellipse">
            <a:avLst/>
          </a:prstGeom>
          <a:solidFill>
            <a:srgbClr val="1A1A20"/>
          </a:solidFill>
          <a:ln w="25400">
            <a:solidFill>
              <a:srgbClr val="6B6B7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07040" y="2606040"/>
            <a:ext cx="502920" cy="502920"/>
          </a:xfrm>
          <a:prstGeom prst="ellipse">
            <a:avLst/>
          </a:prstGeom>
          <a:solidFill>
            <a:srgbClr val="0C0C10"/>
          </a:solidFill>
          <a:ln w="19050">
            <a:solidFill>
              <a:srgbClr val="B01E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3794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M — corpo compacto,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 C-Mount rosqueada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507492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514807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sempre a trava do USB 3.0. Se a câmera for desconectada com o software aberto, reinicie o software após reconectar.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câmera Iris MX — alta velocidade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Iris MX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CMOS 12 bits · 2560 × 2048 px (&gt; 5,3 MP)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Framerate máximo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29.000 FPS com resolução reduzida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Memória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SSD embarcado na câmera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Gigabit Ethernet + adaptador USB-Ethernet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Alimentação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Fonte externa 10–26 VDC ou bateria Li-ion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0020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29.000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955280" y="2743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máximo — eventos ultrarrápidos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Ligue/desligue pelo software ou pelo botão traseiro — nunca puxando o cabo de alimentação.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serve como câmera de alta velocidade de uso geral, além do MA.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lentes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com várias distâncias focais fixas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lente identificada por um anel de cor (cores do espectro/arco-íris).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C-Mount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Rosqueadas ao corpo — padrão de boa qualidade óptica. Outros padrões (CS, F/Nikon, EF/Canon) têm adaptadores, mas as C-Mount são as compatíveis.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Intercambiáveis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trocam entre Iris M e MX — exceto a lente de 6 mm.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232329"/>
          </a:solidFill>
          <a:ln/>
        </p:spPr>
      </p:sp>
      <p:sp>
        <p:nvSpPr>
          <p:cNvPr id="7" name="Shape 5"/>
          <p:cNvSpPr/>
          <p:nvPr/>
        </p:nvSpPr>
        <p:spPr>
          <a:xfrm>
            <a:off x="7187184" y="1847088"/>
            <a:ext cx="146304" cy="557784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 mm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25712" y="1828800"/>
            <a:ext cx="594360" cy="594360"/>
          </a:xfrm>
          <a:prstGeom prst="ellipse">
            <a:avLst/>
          </a:prstGeom>
          <a:solidFill>
            <a:srgbClr val="0C0C10"/>
          </a:solidFill>
          <a:ln w="19050">
            <a:solidFill>
              <a:srgbClr val="6B6B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7889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232329"/>
          </a:solidFill>
          <a:ln/>
        </p:spPr>
      </p:sp>
      <p:sp>
        <p:nvSpPr>
          <p:cNvPr id="11" name="Shape 9"/>
          <p:cNvSpPr/>
          <p:nvPr/>
        </p:nvSpPr>
        <p:spPr>
          <a:xfrm>
            <a:off x="7187184" y="2898648"/>
            <a:ext cx="146304" cy="55778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2788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82912" y="2880360"/>
            <a:ext cx="594360" cy="594360"/>
          </a:xfrm>
          <a:prstGeom prst="ellipse">
            <a:avLst/>
          </a:prstGeom>
          <a:solidFill>
            <a:srgbClr val="0C0C10"/>
          </a:solidFill>
          <a:ln w="19050">
            <a:solidFill>
              <a:srgbClr val="6B6B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38404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23232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7184" y="3950208"/>
            <a:ext cx="146304" cy="557784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40112" y="3931920"/>
            <a:ext cx="594360" cy="594360"/>
          </a:xfrm>
          <a:prstGeom prst="ellipse">
            <a:avLst/>
          </a:prstGeom>
          <a:solidFill>
            <a:srgbClr val="0C0C10"/>
          </a:solidFill>
          <a:ln w="19050">
            <a:solidFill>
              <a:srgbClr val="6B6B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48920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232329"/>
          </a:solidFill>
          <a:ln/>
        </p:spPr>
      </p:sp>
      <p:sp>
        <p:nvSpPr>
          <p:cNvPr id="19" name="Shape 17"/>
          <p:cNvSpPr/>
          <p:nvPr/>
        </p:nvSpPr>
        <p:spPr>
          <a:xfrm>
            <a:off x="7187184" y="5001768"/>
            <a:ext cx="146304" cy="557784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4892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497312" y="4983480"/>
            <a:ext cx="594360" cy="594360"/>
          </a:xfrm>
          <a:prstGeom prst="ellipse">
            <a:avLst/>
          </a:prstGeom>
          <a:solidFill>
            <a:srgbClr val="0C0C10"/>
          </a:solidFill>
          <a:ln w="19050">
            <a:solidFill>
              <a:srgbClr val="6B6B7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Distância focal — campo de visão × ampliação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5806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 o campo de visão e a ampliação; é a distância entre a lente equivalente e o sensor.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fixa: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está impresso no corpo; mudar o enquadramento = trocar a lente (exceção: Traveler, 12,5–75 mm ajustável).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a focal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2× a ampliação e metade do campo de visão (e vice-versa).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maior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objeto parece mais próximo e a resolução mínima de deslocamento melhora (fica menor).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947672"/>
            <a:ext cx="822960" cy="603504"/>
          </a:xfrm>
          <a:prstGeom prst="rect">
            <a:avLst/>
          </a:prstGeom>
          <a:solidFill>
            <a:srgbClr val="232329"/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7818120" y="1783080"/>
            <a:ext cx="3657600" cy="914400"/>
          </a:xfrm>
          <a:prstGeom prst="triangle">
            <a:avLst/>
          </a:prstGeom>
          <a:solidFill>
            <a:srgbClr val="B01E24">
              <a:alpha val="18000"/>
            </a:srgbClr>
          </a:solidFill>
          <a:ln w="19050">
            <a:solidFill>
              <a:srgbClr val="B01E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2606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 mm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2075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de visão amplo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3319272"/>
            <a:ext cx="822960" cy="603504"/>
          </a:xfrm>
          <a:prstGeom prst="rect">
            <a:avLst/>
          </a:prstGeom>
          <a:solidFill>
            <a:srgbClr val="232329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7818120" y="3154680"/>
            <a:ext cx="3657600" cy="914400"/>
          </a:xfrm>
          <a:prstGeom prst="triangle">
            <a:avLst/>
          </a:prstGeom>
          <a:solidFill>
            <a:srgbClr val="1C5D8C">
              <a:alpha val="18000"/>
            </a:srgbClr>
          </a:solidFill>
          <a:ln w="19050">
            <a:solidFill>
              <a:srgbClr val="1C5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39776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01000" y="3447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estreito · mais zoom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457200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47091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rotor a 2 m: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 25 mm → máquina inteira · lente 50 mm → close no mancal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de abertura (f-stops)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1105783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típica: f/1.4 a f/16 — as lentes do kit não têm “cliques”: alinhe o anel à marcação.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f/1.4 = máxima entrada de luz · f/16 = mínima. A abertura define a claridade da gravação.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passo corta a luz pela metade: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f/2.8 admite metade da luz de f/2 e o dobro de f/4.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86968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" y="3717036"/>
            <a:ext cx="566928" cy="56692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f/1.4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76856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2596" y="3771900"/>
            <a:ext cx="457200" cy="45720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66744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18204" y="3817620"/>
            <a:ext cx="365760" cy="3657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f/2.8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56632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4668" y="3854196"/>
            <a:ext cx="292608" cy="29260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3886200"/>
            <a:ext cx="228600" cy="22860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f/5.6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36408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83880" y="3913632"/>
            <a:ext cx="173736" cy="173736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f/8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226296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96628" y="3936492"/>
            <a:ext cx="128016" cy="128016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26" name="Text 24"/>
          <p:cNvSpPr/>
          <p:nvPr/>
        </p:nvSpPr>
        <p:spPr>
          <a:xfrm>
            <a:off x="8997696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616184" y="3566160"/>
            <a:ext cx="868680" cy="868680"/>
          </a:xfrm>
          <a:prstGeom prst="ellipse">
            <a:avLst/>
          </a:prstGeom>
          <a:solidFill>
            <a:srgbClr val="FBEAEB"/>
          </a:solidFill>
          <a:ln w="25400">
            <a:solidFill>
              <a:srgbClr val="B01E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04804" y="3954780"/>
            <a:ext cx="91440" cy="9144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29" name="Text 27"/>
          <p:cNvSpPr/>
          <p:nvPr/>
        </p:nvSpPr>
        <p:spPr>
          <a:xfrm>
            <a:off x="10387584" y="4526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f/16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9808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mais luz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0" y="4892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luz 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34924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42239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PRÁTICA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clara demais ou saturada na área de interesse? Feche primeiro a abertura (f maior) antes de reduzir o brilho (%).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Ratio e profundidade de campo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23232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45920"/>
            <a:ext cx="1069207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Ratio = distância focal (f) ÷ diâmetro de abertura (d)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11226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 50 mm c/ abertura 50 mm → f/1  ·  mesma lente c/ abertura 25 mm → f/2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7432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Profundidade de campo = distância entre o ponto mais próximo e o mais distante em foco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55648"/>
                <a:gridCol w="1755648"/>
                <a:gridCol w="1755648"/>
                <a:gridCol w="1755648"/>
                <a:gridCol w="1746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f/5.6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f/22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Abertura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Muito grande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Pequena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Muito pequena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Profundidade de campo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Muito pequena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Pequena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Muito grande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foco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Quase nada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Algumas coisas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Quase tudo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Brilho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brilhante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Brilhante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Escuro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escuro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5623560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5696712"/>
            <a:ext cx="107652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a abertura dá profundidade, mas escurece. Precisa de tudo em foco? Providencie iluminação mais intensa.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Tripé e cabo USB 3.0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da segurança, a prioridade nº 1 é a estabilidade da câmera — qualquer trepidação entra na gravação.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551834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58568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Isoladores sempre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569464"/>
            <a:ext cx="322265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Coxins sob os pés: até −50% de vibração transmitida e −90% de impactos (com o peso na haste).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9930" y="2148840"/>
            <a:ext cx="3551834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4522" y="2258568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na haste central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84522" y="2569464"/>
            <a:ext cx="322265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Abaixa a frequência natural do conjunto e melhora o isolamento.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2933" y="2148840"/>
            <a:ext cx="3551834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7525" y="2258568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Afaste-se da fonte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37525" y="2569464"/>
            <a:ext cx="322265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 de focal maior = mesmo enquadramento, de longe, longe da vibração.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133088"/>
            <a:ext cx="3551834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42816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Pernas grossas primeiro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" y="4553712"/>
            <a:ext cx="322265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Estenda o estágio de maior diâmetro; o fino só se for inevitável.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9930" y="4133088"/>
            <a:ext cx="3551834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4522" y="4242816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Haste central: último recurso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4522" y="4553712"/>
            <a:ext cx="322265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estenda a coluna central se não houver outra forma de ganhar altura.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72933" y="4133088"/>
            <a:ext cx="3551834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7525" y="4242816"/>
            <a:ext cx="32226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Cabo USB 3.0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37525" y="4553712"/>
            <a:ext cx="322265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 e transmite o vídeo. Aperte sempre as travas de parafuso — protegem a porta da câmera. Cabo maior? Somente homologado.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EQUIPAMENTOS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Iluminação — o holofote de LED do kit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 de luz contínua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6908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069080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regulável (interno ou remoto s/ fio)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9244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23 min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092440" y="2606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bateria Li-ion em potência máxima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365760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Alimentação: rede bivolt 110/220 VAC ou a bateria Li-ion do kit.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iluminação evita ganho alto (ruído) e pixels saturados — e dá aparência profissional ao vídeo-relatório.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93776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01091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PLANEJE A GRAVAÇÃO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~23 min de bateria em máxima, defina antes o que será filmado para a luz não acabar no meio da coleta.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2 · REVISÃO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de fixação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Framerate máximo da Iris M?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1.300 FPS (resolução reduzida).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Framerate máximo da Iris MX?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29.000 FPS (resolução reduzida).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lentes dos kits têm zoom ajustável?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focal fixa (exceto Traveler 12,5–75 mm). Muda-se trocando a lente.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os isoladores de vibração no tripé?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— até −50% de vibração e −90% de impactos.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os parafusos do cabo USB 3.0?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que conectar à câmera — protegem o conector.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3300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abertura corta a luz pela metade vs. f/4?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f/5.6.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profundidade de campo: f/5.6 ou f/16?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f/16.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significa FPS?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Per Second — quadros por segundo.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campo de visão: 25 mm ou 50 mm?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mm.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3  ·  1º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ao Motion Explorer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Apresentar os quatro aplicativos do software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uma estrutura hierárquica no Motion Explorer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Aquisição e Amplificação a partir do Motion Explorer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3 · MOTION EXPLORER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aplicativos do pacote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414620" cy="2057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Motion Explorer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50854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a hierarquia de pastas, ativos e coleções; organiza gravações .rdi, MP4 e demais arquivos. Ponto de partida para abrir os outros três.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0148" y="1645920"/>
            <a:ext cx="5414620" cy="2057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4740" y="175564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RDI Acquisition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4740" y="2066544"/>
            <a:ext cx="50854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dados. Só funciona com a câmera conectada à unidade de aquisição.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931920"/>
            <a:ext cx="5414620" cy="2057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4164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RDI Motion Amplification®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352544"/>
            <a:ext cx="50854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Reproduz, amplifica, mede e edita as gravações. Ao abrir, o app de aquisição fecha sozinho para poupar recursos.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0148" y="3931920"/>
            <a:ext cx="5414620" cy="20574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4740" y="404164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RDI Motion Studio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4740" y="4352544"/>
            <a:ext cx="508543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vídeo: monta filmes com MP4s, imagens, títulos e narração — conta a história completa do ativo.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852160"/>
            <a:ext cx="11057839" cy="54864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925312"/>
            <a:ext cx="107652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TÍPICO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(organiza) → Acquisition (grava) → Motion Amplification® (analisa) → Studio (apresenta).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3 · MOTION EXPLORER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e barra de ferramentas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4937760" cy="4434840"/>
          </a:xfrm>
          <a:prstGeom prst="roundRect">
            <a:avLst>
              <a:gd name="adj" fmla="val 2062"/>
            </a:avLst>
          </a:prstGeom>
          <a:solidFill>
            <a:srgbClr val="23232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83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6968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Empresa (Company)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71016" y="27157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Pasta  ·  ex.: Classroom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55064" y="32826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Ativo  ·  ex.: Rotor Kit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039112" y="38496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Coleção  ·  ex.: Coleção 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4416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gravações .rdi · MP4 · imagens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50292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Gravações entram sozinhas na coleção selecionada; derivados (filtrados, estabilizados, MP4) herdam a coleção do original.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600200"/>
          <a:ext cx="58064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Comportamento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Adicionar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 → pastas/ativos · Pasta → pastas/ativos · Ativo → coleções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Cut/Copy/Paste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ou duplica itens da hierarquia (arquivos em si, não)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Tudo menos a empresa. Escolha: tirar só da hierarquia OU tirar E DELETAR os arquivos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Edita o nome do item selecionado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806440" y="4892040"/>
            <a:ext cx="5806440" cy="868680"/>
          </a:xfrm>
          <a:prstGeom prst="roundRect">
            <a:avLst>
              <a:gd name="adj" fmla="val 8421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52744" y="4965192"/>
            <a:ext cx="55138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arquivos ficam no Windows; a hierarquia guarda links. Se deletar, não há lixeira — a exclusão é definitiva.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3 · MOTION EXPLORER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1 — Criando uma hierarquia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5577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Ligue a unidade de aquisição (computador do sistema);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Inicie o Motion Explorer;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Renomeie “Company Name”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nome da sua empresa;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a pasta </a:t>
            </a:r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dela, crie o ativo </a:t>
            </a:r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Rotor Kit 1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ativo, crie a coleção </a:t>
            </a:r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Coleção 1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69164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1228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Empresa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1228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  Classroom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1228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└  Rotor Kit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└  Coleção 1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3 · MOTION EXPLORER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2 — Armazenando a primeira gravação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Conecte o USB 3.0 à câmera (trava apertada) e à unidade — LED verde acende;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Instale a lente de 25 mm;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Selecione a coleção e clique em New Recording — imagem ao vivo abre;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Enquadre o kit de rotor inteiro e foque (método abaixo);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Meça a distância com trena a laser → campo Distance;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Length = 25 · tipo Standard · Duration = 3 s;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Framerate 120 fps · brilho 100% · ganho 0 dB;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 (botão vermelho) e Salve quando a barra verde completar;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no Explorer: arquivo .rdi nomeado pela data, com pré-visualização e propriedades editáveis.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03720" y="1645920"/>
            <a:ext cx="4709160" cy="2651760"/>
          </a:xfrm>
          <a:prstGeom prst="roundRect">
            <a:avLst>
              <a:gd name="adj" fmla="val 3448"/>
            </a:avLst>
          </a:prstGeom>
          <a:solidFill>
            <a:srgbClr val="EDF6F0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3 PASSOS (sempre!)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86600" y="21945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Zoom digital IN numa área com detalhe/contraste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8660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Ajuste o foco manual da lente no zoom máximo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086600" y="343814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Zoom digital OUT — imagem focada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20" y="448056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0024" y="4553712"/>
            <a:ext cx="44165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LIXEIRA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deletado no software de aquisição é apagado em definitivo.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0" y="530352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0024" y="5376672"/>
            <a:ext cx="44165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.RDI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exclusivamente no software Motion Amplification®; exporte MP4 para compartilhar.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3 · REVISÃO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de fixação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29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app cria a estrutura hierárquica?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Motion Explorer.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Anotações ficam com a gravação?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— permanentes e visíveis no Explorer.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Extensão dos dados brutos?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.rdi — só abre no software MA.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gravação é armazenada automaticamente?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é preciso clicar em Salvar.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3300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da Ribbon que inicia a aquisição?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Recording.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Deletou no software de aquisição: recupera?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exclusão permanente, sem lixeira.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antes de gravar p/ melhorar o foco?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digital in → foco manual → zoom out.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Distância e focal podem ser editadas depois?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— no painel de propriedades do Explorer.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 ·  1º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RDI Acquisition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do RDI Acquisition e impacto na qualidade dos dados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configurações afetam os dados de vibração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apropriadas de iluminação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da aplicação (engrenagem)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290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controla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Color / Size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 e tamanho (px) da grade de referência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Options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Desktop ou Tablet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Imperial/métrico · Hz ou CPM · frequência da rede (50/60 Hz)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Recording Storage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Pasta das gravações + alerta de espaço livre (GB)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Recording Name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 data · pela gravação anterior · pela coleção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Range / Binning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dinâmica do sensor · agrupamento de pixels (só Iris MX)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39496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546811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GRAVAR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as opções clicando na engrenagem (canto superior direito); as unidades escolhidas valem para os dados de vibração.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de gravação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67208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do arquivo (auto-numera: motor.rdi → motor_01.rdi)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 (m/ft)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Distância lente–objeto — crítica para a exatidão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Focal Length (mm)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Distância focal da lente — igualmente crítica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Acquisition Type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· Timer · Triggered · Shaft Inspection · Long Term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(s)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Duração da gravação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Speed (RPM)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 as funções que dependem da rotação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Notes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 permanentes, visíveis no Motion Explorer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00200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FBEAEB"/>
          </a:solidFill>
          <a:ln w="15875">
            <a:solidFill>
              <a:srgbClr val="B01E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874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→ 5%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863840" y="260604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de 5% na distância (ou na focal) = erro de 5% na amplitude de vibração medida. Meça com trena a laser.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411480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81544" y="4187952"/>
            <a:ext cx="36850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ESPECIAIS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= atraso programado · Triggered = pré/pós-gatilho p/ transitórios · Shaft Inspection = “congela” o giro p/ inspeção visual (exige RPM; sem amplificação) · Long Term = tendências.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3 — Medindo a RPM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propriedades, clique no botão de cálculo da velocidade do ativo;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a estimativa (User Estimated Speed) ou a faixa: Low 10–300 · High 300–7000 RPM;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a região de interesse sobre uma parte exposta do eixo;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Calculate;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coerente (ex.: 2619 RPM / 43,65 Hz)? Confirme com Yes; senão, No e repita 2–4;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 e clique em Store Recording — confira no Explorer.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589520" y="169164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232329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Speed (RPM)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18120" y="2240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2619,07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81812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43,65 Hz — detectada pela própria imagem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1812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RPM correta habilita análises em ordens e a inspeção de eixo.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548640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55955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pode ser criada/trocada na aquisição (Change…); Asset, não — ativos nascem no Explorer. Abrindo pela coleção, os campos já vêm preenchidos.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da câmera e da imagem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34</a:t>
            </a:r>
            <a:endParaRPr lang="en-US" sz="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892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faz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Framerate (fps)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Quadros/s. Iris M: padrão 121, máx 1.300 (reduzida) · MX: padrão 211, máx 29.000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Brightness (%)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Muda o tempo de exposição de cada quadro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Gain (dB)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mais sensível — clareia, mas adiciona ruído (último recurso)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Rotation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90/180/270° — fica permanente na gravação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600200"/>
          <a:ext cx="3840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Preset (Iris 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 máx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1920 × 1200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1920 × 1080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1600 × 900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 × 720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1024 × 576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 até 128 × 72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539496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546811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 BRILHO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brilho (%) é aplicado ao tempo de exposição: mais fps → menos exposição → imagem mais escura.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Framerate — a configuração mais importante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5806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frequência máxima (Fmáx) do espectro e a taxa de amostragem da forma de onda;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Interage com a pulsação da iluminação artificial (flicker);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 o brilho disponível (tempo de exposição);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Padrão de 120 fps — justamente por causa da iluminação interna AC.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37960" y="1627632"/>
            <a:ext cx="5074920" cy="4389120"/>
          </a:xfrm>
          <a:prstGeom prst="roundRect">
            <a:avLst>
              <a:gd name="adj" fmla="val 208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18105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Iluminação AC — por que 120 fps?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0" y="219456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de 60 Hz → a tensão cruza o zero 120×/s → a luz pulsa a 120 Hz;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olho não vê; o MA amplifica — e o flicker aparece no vídeo;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de sincronia = batimento entre captura e luz.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4434840"/>
            <a:ext cx="4617720" cy="1325880"/>
          </a:xfrm>
          <a:prstGeom prst="roundRect">
            <a:avLst>
              <a:gd name="adj" fmla="val 5517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452628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prática:  </a:t>
            </a:r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60 Hz → grave a 120 ou 60 fps · rede 50 Hz → 100 ou 50 fps.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Framerate × Fmáx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3232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91640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Fmáx (Hz)  =  fps ÷ 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2494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gravação a 120 fps → espectro até 60 Hz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23232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91640"/>
            <a:ext cx="5029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mínimo  =  2,5 × maior frequência de interesse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2494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p/ resolver bem o pico de interesse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57839" cy="2926080"/>
          </a:xfrm>
          <a:prstGeom prst="roundRect">
            <a:avLst>
              <a:gd name="adj" fmla="val 312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resolvido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36576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Motobomba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264" y="407822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1800 RPM = 30 Hz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73552" y="4160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38728" y="36576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Suspeita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66744" y="407822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desalinhamento paralelo → 2× giro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71032" y="4160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6208" y="36576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Freq. de interesse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64224" y="407822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3600 CPM = 60 Hz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68512" y="4160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33688" y="36576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BEAEB"/>
          </a:solidFill>
          <a:ln w="19050">
            <a:solidFill>
              <a:srgbClr val="B01E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1704" y="37673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mínimo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061704" y="4078224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 × 60 = 150 fps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95528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espectro com Fmáx = 60 Hz não resolve bem um pico exatamente em 60 Hz — por isso a margem de 2,5×.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4 — Taxa de quadros × brilho · Ganho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11057839" cy="685800"/>
          </a:xfrm>
          <a:prstGeom prst="roundRect">
            <a:avLst>
              <a:gd name="adj" fmla="val 13333"/>
            </a:avLst>
          </a:prstGeom>
          <a:solidFill>
            <a:srgbClr val="232329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45920"/>
            <a:ext cx="106920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exposição (s) = (1 ÷ fps) × brilho%</a:t>
            </a:r>
            <a:endParaRPr lang="en-US" sz="17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68880"/>
          <a:ext cx="69494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188720"/>
                <a:gridCol w="201168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Brilho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Exposição/quadro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0,01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referência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10× mais clara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0,01 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igual ao passo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246888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 (dB)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92440" y="30175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muda a exposição — aumenta a sensibilidade do sensor;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Clareia a imagem e adiciona ruído;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só depois de esgotar iluminação e abertura.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507492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514807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fps ⇒ maior Fmáx, porém menor tempo de exposição (imagem mais escura). O brilho (%) modula diretamente a exposição.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Saturação — quando o pixel “transborda”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cursor mostra a % de saturação do pixel sob ele; a Saturation Tool pinta de vermelho as áreas saturadas;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a 100% está “cheio”: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impossível saber quanta luz recebeu de fato (pode ser 200%);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Superfícies refletivas saturam fácil — pinte de fosco ou desvie a luz;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Saturação fora das regiões de interesse não é problema.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1627632"/>
            <a:ext cx="4663440" cy="3108960"/>
          </a:xfrm>
          <a:prstGeom prst="roundRect">
            <a:avLst>
              <a:gd name="adj" fmla="val 2941"/>
            </a:avLst>
          </a:prstGeom>
          <a:solidFill>
            <a:srgbClr val="FBEAEB"/>
          </a:solidFill>
          <a:ln w="15875">
            <a:solidFill>
              <a:srgbClr val="B01E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100% SATURADO…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78040" y="219456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amplificado;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não aparecer se movendo no vídeo;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não gerar forma de onda precisa.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983480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056632"/>
            <a:ext cx="107652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LEMBRE-SE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MA, o vídeo é o relatório — capriche na iluminação.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ao vivo (Live MA)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39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6675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Ativar/Desativar MA na tela de aquisição mostra a amplificação em tempo real;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de amplificação e velocidade aparecem à direita;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Usos: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o melhor ângulo de filmagem e varrer grandes ativos atrás de movimento excessivo;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Atraso: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 com o tempo em modo ao vivo e com velocidades menores — Return to Live reinicia; desativar volta à tela normal.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023360" cy="4114800"/>
          </a:xfrm>
          <a:prstGeom prst="roundRect">
            <a:avLst>
              <a:gd name="adj" fmla="val 2273"/>
            </a:avLst>
          </a:prstGeom>
          <a:solidFill>
            <a:srgbClr val="232329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VIVO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63840" y="2286000"/>
            <a:ext cx="2651760" cy="2011680"/>
          </a:xfrm>
          <a:prstGeom prst="roundRect">
            <a:avLst>
              <a:gd name="adj" fmla="val 2727"/>
            </a:avLst>
          </a:prstGeom>
          <a:solidFill>
            <a:srgbClr val="3A3A44"/>
          </a:solidFill>
          <a:ln/>
        </p:spPr>
      </p:sp>
      <p:sp>
        <p:nvSpPr>
          <p:cNvPr id="9" name="Shape 7"/>
          <p:cNvSpPr/>
          <p:nvPr/>
        </p:nvSpPr>
        <p:spPr>
          <a:xfrm>
            <a:off x="10744200" y="2286000"/>
            <a:ext cx="256032" cy="2011680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10" name="Shape 8"/>
          <p:cNvSpPr/>
          <p:nvPr/>
        </p:nvSpPr>
        <p:spPr>
          <a:xfrm>
            <a:off x="10744200" y="2926080"/>
            <a:ext cx="256032" cy="137160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0" y="2286000"/>
            <a:ext cx="256032" cy="2011680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55680" y="3474720"/>
            <a:ext cx="256032" cy="822960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4434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| velocidade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63840" y="4846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Veja o movimento amplificado antes mesmo de gravar.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Resolução mínima de deslocamento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movimento (µm/mils) para: (1) ser visível na gravação amplificada e (2) gerar pico acima do ruído no espectro.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1057839" cy="1051560"/>
          </a:xfrm>
          <a:prstGeom prst="roundRect">
            <a:avLst>
              <a:gd name="adj" fmla="val 8696"/>
            </a:avLst>
          </a:prstGeom>
          <a:solidFill>
            <a:srgbClr val="232329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40280"/>
            <a:ext cx="1069207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(mils) = (D ÷ F) × 0,5        ·        R (µm) = (D ÷ F) × 12,5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798064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distância lente–objeto (m) · F = focal (mm) · fatores empíricos · ×2 na Iris M colorida</a:t>
            </a:r>
            <a:endParaRPr lang="en-US" sz="10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Distância (D)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Focal (F)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(R)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µm (0,04 mils)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 µm (0,02 mils)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0,25 µm (0,01 mils)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498080" y="35204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EDF6F0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0" y="3657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enxergar movimentos menores:  </a:t>
            </a:r>
            <a:pPr indent="0" marL="0"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aproxime a câmera ou use lente de focal maior.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(cropping) · faixa dinâmica · binning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cortar?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e USB 3.0 limitam o fluxo de dados; menos pixels por quadro = mais fps disponível;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5a — corte manual: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ROI desligado → arraste o retângulo vermelho → solte: a imagem é recortada e o fps máximo sobe;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5b — corte por preset: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Reset em Image Properties → escolha 1280×720 (máx 207 fps);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Custo: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menor e mais escura (menos exposição) — enquadre bem e reforce a luz.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627632"/>
            <a:ext cx="4069080" cy="1691640"/>
          </a:xfrm>
          <a:prstGeom prst="roundRect">
            <a:avLst>
              <a:gd name="adj" fmla="val 486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8392" y="173736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Range 12→8 bits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08392" y="2048256"/>
            <a:ext cx="3739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“Lower Sensitivity / Higher Framerate”: até ~180 fps sem cortar — perdendo sensibilidade.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0" y="3547872"/>
            <a:ext cx="4069080" cy="1691640"/>
          </a:xfrm>
          <a:prstGeom prst="roundRect">
            <a:avLst>
              <a:gd name="adj" fmla="val 486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8392" y="3657600"/>
            <a:ext cx="3739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MX Binning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08392" y="3968496"/>
            <a:ext cx="373989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2×2 pixels em 1: mais fps com o MESMO campo de visão; resolução cai pela metade (2560×2048 → 1280×1024).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525780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330952"/>
            <a:ext cx="107652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DE AQUISIÇÃO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interativo (framerate → campo de visão → foco → flicker → exposição → trepidação); Mark Complete em cada etapa e Finish aplica tudo — nada esquecido.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de eixo (Shaft Inspection) — Exercício 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Type = Shaft Inspection;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Asset Speed — a RPM precisa ser a mais exata possível;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Selecione a faixa (ou estimativa), clique numa área exposta do eixo e Calculate;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com Yes;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Brilho e ganho são definidos sozinhos (típico: brilho &lt;1%, ganho ≈29 dB) — não mexa; framerate/duração somem (≈ 1 volta do eixo);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Grave e abra no MA (botão de lupa).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691640"/>
            <a:ext cx="4069080" cy="3200400"/>
          </a:xfrm>
          <a:prstGeom prst="roundRect">
            <a:avLst>
              <a:gd name="adj" fmla="val 285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874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22402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Inspecionar visualmente eixos, acoplamentos, polias e correias;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máquina operando — sob a carga real de trabalho;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Reprodução com velocidade ajustável no 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521208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285232"/>
            <a:ext cx="1076523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 extra é essencial (exposição curtíssima) · RPM deve ser estável · sem espectro/órbita e SEM amplificação nessas gravações.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(Ex. 7) e temporizador (Ex. 8)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— capture o transitório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 Triggered · Pre-trigger = 3 s · Post-trigger = 3 s (não precisam ser iguais);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Recording (botão amarelo) — preenchido o pré-buffer, estado “Armed”;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evento, Trigger Recording → grava o pós-gatilho;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pré + pós (6 s); a linha dourada marca o disparo — e reaparece no MA.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— gravação com atraso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0" y="1938528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= Timer;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= 3 s · Delay Time = 10 s;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gravar: cronômetro regressivo na tela;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zero, a aquisição roda e é armazenada automaticamente.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42062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4434840"/>
            <a:ext cx="1920240" cy="411480"/>
          </a:xfrm>
          <a:prstGeom prst="rect">
            <a:avLst/>
          </a:prstGeom>
          <a:solidFill>
            <a:srgbClr val="55555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pré-gatilho 3 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49640" y="4434840"/>
            <a:ext cx="292608" cy="41148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13" name="Shape 11"/>
          <p:cNvSpPr/>
          <p:nvPr/>
        </p:nvSpPr>
        <p:spPr>
          <a:xfrm>
            <a:off x="8842248" y="4434840"/>
            <a:ext cx="1920240" cy="411480"/>
          </a:xfrm>
          <a:prstGeom prst="rect">
            <a:avLst/>
          </a:prstGeom>
          <a:solidFill>
            <a:srgbClr val="55555F"/>
          </a:solidFill>
          <a:ln/>
        </p:spPr>
      </p:sp>
      <p:sp>
        <p:nvSpPr>
          <p:cNvPr id="14" name="Text 12"/>
          <p:cNvSpPr/>
          <p:nvPr/>
        </p:nvSpPr>
        <p:spPr>
          <a:xfrm>
            <a:off x="8842248" y="4434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pós-gatilho 3 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5257800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330952"/>
            <a:ext cx="107652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TÍPICO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partidas e paradas, batidas intermitentes, eventos que “não esperam” o operador.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AQUISIÇÃO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— antes de apertar o botão vermelho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658368" cy="65836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1328" y="17373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Lente — </a:t>
            </a:r>
            <a:pPr indent="0" marL="0">
              <a:buNone/>
            </a:pPr>
            <a:r>
              <a:rPr lang="en-US" sz="16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com precisão a distância focal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66928" y="2587752"/>
            <a:ext cx="658368" cy="65836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5877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81328" y="263347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Distância — </a:t>
            </a:r>
            <a:pPr indent="0" marL="0">
              <a:buNone/>
            </a:pPr>
            <a:r>
              <a:rPr lang="en-US" sz="16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meça com precisão até a região de interesse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66928" y="3483864"/>
            <a:ext cx="658368" cy="65836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4838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81328" y="352958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Iluminação — </a:t>
            </a:r>
            <a:pPr indent="0" marL="0">
              <a:buNone/>
            </a:pPr>
            <a:r>
              <a:rPr lang="en-US" sz="16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adequada ao ambiente e ao objeto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66928" y="4379976"/>
            <a:ext cx="658368" cy="65836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3799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81328" y="442569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— </a:t>
            </a:r>
            <a:pPr indent="0" marL="0">
              <a:buNone/>
            </a:pPr>
            <a:r>
              <a:rPr lang="en-US" sz="16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in digital → foque → zoom out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66928" y="5276088"/>
            <a:ext cx="658368" cy="65836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276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81328" y="532180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Estabilidade — </a:t>
            </a:r>
            <a:pPr indent="0" marL="0">
              <a:buNone/>
            </a:pPr>
            <a:r>
              <a:rPr lang="en-US" sz="16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coxins no tripé e articulações apertadas</a:t>
            </a:r>
            <a:endParaRPr lang="en-US" sz="16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4 · REVISÃO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de fixação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Resolução mínima a 5 m com lente de 25 mm?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(5÷25)×12,5 = 2,5 µm (= 0,1 mils).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formas de passar de 121 fps?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Cortar a imagem (manual/preset) e faixa dinâmica 8 bits (na MX, também binning).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reduzir o flicker em ambientes internos?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síncrono com a rede: 120/60 (60 Hz) ou 100/50 (50 Hz).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 de eixo: aumentar o brilho a 100%?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 — brilho/ganho automáticos devem ser mantidos.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“Higher Sensitivity”: efeito no framerate?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taxa de quadros disponível (12 bits).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3300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digital aumenta o framerate?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zoom é para focar; quem libera fps é o corte.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ganho faz?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Clareia (mais sensibilidade), mas adiciona ruído; não muda a exposição.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Brilho menor → exposição?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 na mesma proporção (brilho % é aplicado à exposição).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a 150 fps e 50%?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(1÷150)×0,5 ≈ 3,3 ms.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 ·  2º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RDI Motion Amplification®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e discutir as ferramentas do Motion Amplification®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dados de vibração a partir das gravações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Praticar as habilidades em exercícios de sala de aula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Iniciando e configurando o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formas de abrir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Atalho na área de trabalho;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 do MA no software de aquisição, ao fim da gravação;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Motion Explorer: duplo clique no .rdi ou ícone MA na barra (Ex. 9).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703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do aplicativo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406908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Mode: Historical Data Analysis (para o curso);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Desktop (Iris M padrão) ou Tablet (Traveler);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Grade, nível de saturação, pasta de exportação, logotipo;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Unidades: imperial/métrico · Hz ou CPM.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23232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7556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3657600" cy="2743200"/>
          </a:xfrm>
          <a:prstGeom prst="roundRect">
            <a:avLst>
              <a:gd name="adj" fmla="val 2000"/>
            </a:avLst>
          </a:prstGeom>
          <a:solidFill>
            <a:srgbClr val="3A3A4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031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469880" y="2103120"/>
            <a:ext cx="274320" cy="2743200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69880" y="2834640"/>
            <a:ext cx="274320" cy="201168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27080" y="2103120"/>
            <a:ext cx="274320" cy="2743200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27080" y="3657600"/>
            <a:ext cx="274320" cy="1188720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956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sliders: amplificação · velocidade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5349240"/>
            <a:ext cx="3657600" cy="146304"/>
          </a:xfrm>
          <a:prstGeom prst="rect">
            <a:avLst/>
          </a:prstGeom>
          <a:solidFill>
            <a:srgbClr val="55555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5349240"/>
            <a:ext cx="1463040" cy="146304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· Loop · barra de progresso · exportar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de amplificação e velocidade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1760" cy="2377440"/>
          </a:xfrm>
          <a:prstGeom prst="roundRect">
            <a:avLst>
              <a:gd name="adj" fmla="val 3462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— 0 a 100×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50625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Clique-direito no ícone MA sobre o slider: “Extreme Amplification” até 500×. Parte do último valor usado; só amplifica com valor &gt; 0. Comece baixo e suba aos poucos.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3008" y="1645920"/>
            <a:ext cx="5391760" cy="2377440"/>
          </a:xfrm>
          <a:prstGeom prst="roundRect">
            <a:avLst>
              <a:gd name="adj" fmla="val 3462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de reprodução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97600" y="2066544"/>
            <a:ext cx="50625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fina no slider marca a taxa original de captura: nela = tempo real; abaixo = câmera lenta; acima = acelerado. Padrão: 10% da taxa original. Teste várias velocidades — comece devagar.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29768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37083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amplificação é APENAS visual — não altera as amplitudes medidas nas formas de onda e espectros.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512064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519379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10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ligado → Play sem amplificar → suba o slider de amplificação → varie a velocidade, do lento ao rápido.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 imagem fica granulada?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sensor digital tem ruído inerente (CMOS) — pior com pouca luz (relação sinal/ruído baixa);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clareia, mas amplifica o ruído do sensor;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 os movimentos — e o “chuvisco” junto.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645920"/>
            <a:ext cx="4663440" cy="2926080"/>
          </a:xfrm>
          <a:prstGeom prst="roundRect">
            <a:avLst>
              <a:gd name="adj" fmla="val 3125"/>
            </a:avLst>
          </a:prstGeom>
          <a:solidFill>
            <a:srgbClr val="EDF6F0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REDUZIR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78040" y="219456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Reduction habilitada (recurso da v3.5, na barra de ferramentas);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iluminação em vez de ganho alto;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Filtragem por frequência (adiante) limpa muito a imagem.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11 — Exportação básica de vídeo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.rdi só abre no software MA — o MP4 é o formato do relatório.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Exportar Vídeo (canto inferior direito);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Video Content, selecione “Include Only Amplified Video” e OK;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Acompanhe o progresso; ao final escolha “Play Exported Video”;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a reprodução e feche o player;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Explorer, o .mp4 aparece na mesma coleção.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212080" cy="3017520"/>
          </a:xfrm>
          <a:prstGeom prst="roundRect">
            <a:avLst>
              <a:gd name="adj" fmla="val 303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194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Opções de exportação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42032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ou GIF · só amplificado ou original + amplificado;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HD / HD / SD · qualidade baixa/média/alta;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gráficos (espectro, onda, órbita), mapas (movimento/fase + legenda);</a:t>
            </a:r>
            <a:endParaRPr lang="en-US" sz="11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Logotipo, descrição, etiqueta de amplificação/velocidade.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521208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5285232"/>
            <a:ext cx="10765231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 DIFERENTE NO MP4?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conversão comprime dados e cada player reproduz a seu modo — se o movimento não ficou bom, ajuste a velocidade no MA e exporte de novo.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12 e 13 — Exportação avançada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1760" cy="2834640"/>
          </a:xfrm>
          <a:prstGeom prst="roundRect">
            <a:avLst>
              <a:gd name="adj" fmla="val 290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12 · Lado a lado original/amplificado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506257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Vídeo → Video Content: “Include Original and Amplified Video” → Layout Horizontal → OK. A tela dividida mostra os dois simultaneamente (o amplificado é o granulado). Ótimo para demonstrar o quanto se amplificou.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645920"/>
            <a:ext cx="5391760" cy="2834640"/>
          </a:xfrm>
          <a:prstGeom prst="roundRect">
            <a:avLst>
              <a:gd name="adj" fmla="val 290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13 · Recortar reprodução e amplificação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97600" y="2066544"/>
            <a:ext cx="506257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Bandeiras VERDES na barra: delimitam o trecho exportado (arraste a da direita p/ ~1 s). Bandeiras AZUIS: delimitam onde a amplificação acontece (meio do trecho). Exporte só o amplificado — o MP4 sai bem menor.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754880"/>
            <a:ext cx="11057839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5212080"/>
            <a:ext cx="10241280" cy="164592"/>
          </a:xfrm>
          <a:prstGeom prst="rect">
            <a:avLst/>
          </a:prstGeom>
          <a:solidFill>
            <a:srgbClr val="D9D9DF"/>
          </a:solidFill>
          <a:ln/>
        </p:spPr>
      </p:sp>
      <p:sp>
        <p:nvSpPr>
          <p:cNvPr id="13" name="Shape 11"/>
          <p:cNvSpPr/>
          <p:nvPr/>
        </p:nvSpPr>
        <p:spPr>
          <a:xfrm>
            <a:off x="2578608" y="5212080"/>
            <a:ext cx="5852160" cy="164592"/>
          </a:xfrm>
          <a:prstGeom prst="rect">
            <a:avLst/>
          </a:prstGeom>
          <a:solidFill>
            <a:srgbClr val="1E7A46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07408" y="5212080"/>
            <a:ext cx="2377440" cy="164592"/>
          </a:xfrm>
          <a:prstGeom prst="rect">
            <a:avLst/>
          </a:prstGeom>
          <a:solidFill>
            <a:srgbClr val="1C5D8C">
              <a:alpha val="6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544068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= trecho exportado · azul = trecho amplificado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normal × transiente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 v3.0, o padrão é a Amplificação Transiente: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2613584" cy="1600200"/>
          </a:xfrm>
          <a:prstGeom prst="roundRect">
            <a:avLst>
              <a:gd name="adj" fmla="val 514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2140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2284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mais rápido que o da amplificação padrão.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1680" y="2011680"/>
            <a:ext cx="2613584" cy="1600200"/>
          </a:xfrm>
          <a:prstGeom prst="roundRect">
            <a:avLst>
              <a:gd name="adj" fmla="val 514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212140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6272" y="2432304"/>
            <a:ext cx="2284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amplificação ao vivo só existe no modo transiente.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6432" y="2011680"/>
            <a:ext cx="2613584" cy="1600200"/>
          </a:xfrm>
          <a:prstGeom prst="roundRect">
            <a:avLst>
              <a:gd name="adj" fmla="val 514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1024" y="212140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Naturalidade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61024" y="2432304"/>
            <a:ext cx="2284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Movimentos transitórios aparecem muito mais naturais.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11183" y="2011680"/>
            <a:ext cx="2613584" cy="1600200"/>
          </a:xfrm>
          <a:prstGeom prst="roundRect">
            <a:avLst>
              <a:gd name="adj" fmla="val 514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5775" y="2121408"/>
            <a:ext cx="228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Abrangência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75775" y="2432304"/>
            <a:ext cx="2284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 e analisa movimentos periódicos E não periódicos.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97764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do transiente: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ao lado do botão de modo transiente → slider “Speed of Transient Motion” até o movimento ficar nítido;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Ativar/desativar: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botão da barra (opaco = ativado); volta ativado a cada reinício — e é o recomendado.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movimento (Motion Map)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 rapidamente as áreas com movimento significativo — ideal com vários componentes na cena;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média/pico · autoescala · limites · transparência · paleta (única, arco-íris, arco de ferro);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Espectro do mapa: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picos combinam nº de pixels em movimento na frequência + soma das amplitudes;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Contornos por frequência: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 vai ao maior pico, campo Frequency of Interest mostra o valor e a sobreposição colore só aquela frequência (quente = mais movimento);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Regiões de cálculo: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inclua/exclua áreas do espectro do mapa (Define Regions for Spectrum Calculation).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64592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232329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909560" y="2194560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3A3A44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0" y="2651760"/>
            <a:ext cx="1371600" cy="1005840"/>
          </a:xfrm>
          <a:prstGeom prst="ellipse">
            <a:avLst/>
          </a:prstGeom>
          <a:solidFill>
            <a:srgbClr val="B01E24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3291840"/>
            <a:ext cx="914400" cy="731520"/>
          </a:xfrm>
          <a:prstGeom prst="ellipse">
            <a:avLst/>
          </a:prstGeom>
          <a:solidFill>
            <a:srgbClr val="E8A33D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3840480"/>
            <a:ext cx="640080" cy="457200"/>
          </a:xfrm>
          <a:prstGeom prst="ellipse">
            <a:avLst/>
          </a:prstGeom>
          <a:solidFill>
            <a:srgbClr val="1C5D8C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4754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quentes = mais movimento na frequência de interesse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fase (Phase Map) — Exercício 14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em Phase Map na barra de ferramentas — o espectro (o mesmo do Motion Map) escolhe a frequência; o cursor vai ao pico dominante;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sobreposição segue o círculo “Phase Angles of Interest”: cada cor = 22,5° de fase relativa (vermelho-escuro está a 90° do amarelo);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na guia amarela e Ctrl+clique na azul-escura: só ficam as áreas defasadas 180° entre si;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Setas centrais do círculo reativam todos os ângulos.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52176" y="3099816"/>
            <a:ext cx="384048" cy="384048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7" name="Shape 5"/>
          <p:cNvSpPr/>
          <p:nvPr/>
        </p:nvSpPr>
        <p:spPr>
          <a:xfrm>
            <a:off x="10458210" y="3572216"/>
            <a:ext cx="384048" cy="384048"/>
          </a:xfrm>
          <a:prstGeom prst="ellipse">
            <a:avLst/>
          </a:prstGeom>
          <a:solidFill>
            <a:srgbClr val="D2452B"/>
          </a:solidFill>
          <a:ln/>
        </p:spPr>
      </p:sp>
      <p:sp>
        <p:nvSpPr>
          <p:cNvPr id="8" name="Shape 6"/>
          <p:cNvSpPr/>
          <p:nvPr/>
        </p:nvSpPr>
        <p:spPr>
          <a:xfrm>
            <a:off x="10190617" y="3972697"/>
            <a:ext cx="384048" cy="384048"/>
          </a:xfrm>
          <a:prstGeom prst="ellipse">
            <a:avLst/>
          </a:prstGeom>
          <a:solidFill>
            <a:srgbClr val="E8722F"/>
          </a:solidFill>
          <a:ln/>
        </p:spPr>
      </p:sp>
      <p:sp>
        <p:nvSpPr>
          <p:cNvPr id="9" name="Shape 7"/>
          <p:cNvSpPr/>
          <p:nvPr/>
        </p:nvSpPr>
        <p:spPr>
          <a:xfrm>
            <a:off x="9790136" y="424029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9317736" y="4334256"/>
            <a:ext cx="384048" cy="384048"/>
          </a:xfrm>
          <a:prstGeom prst="ellipse">
            <a:avLst/>
          </a:prstGeom>
          <a:solidFill>
            <a:srgbClr val="D8C24A"/>
          </a:solidFill>
          <a:ln/>
        </p:spPr>
      </p:sp>
      <p:sp>
        <p:nvSpPr>
          <p:cNvPr id="11" name="Shape 9"/>
          <p:cNvSpPr/>
          <p:nvPr/>
        </p:nvSpPr>
        <p:spPr>
          <a:xfrm>
            <a:off x="8845336" y="4240290"/>
            <a:ext cx="384048" cy="384048"/>
          </a:xfrm>
          <a:prstGeom prst="ellipse">
            <a:avLst/>
          </a:prstGeom>
          <a:solidFill>
            <a:srgbClr val="9DBB4E"/>
          </a:solidFill>
          <a:ln/>
        </p:spPr>
      </p:sp>
      <p:sp>
        <p:nvSpPr>
          <p:cNvPr id="12" name="Shape 10"/>
          <p:cNvSpPr/>
          <p:nvPr/>
        </p:nvSpPr>
        <p:spPr>
          <a:xfrm>
            <a:off x="8444855" y="3972697"/>
            <a:ext cx="384048" cy="384048"/>
          </a:xfrm>
          <a:prstGeom prst="ellipse">
            <a:avLst/>
          </a:prstGeom>
          <a:solidFill>
            <a:srgbClr val="55A05A"/>
          </a:solidFill>
          <a:ln/>
        </p:spPr>
      </p:sp>
      <p:sp>
        <p:nvSpPr>
          <p:cNvPr id="13" name="Shape 11"/>
          <p:cNvSpPr/>
          <p:nvPr/>
        </p:nvSpPr>
        <p:spPr>
          <a:xfrm>
            <a:off x="8177262" y="3572216"/>
            <a:ext cx="384048" cy="384048"/>
          </a:xfrm>
          <a:prstGeom prst="ellipse">
            <a:avLst/>
          </a:prstGeom>
          <a:solidFill>
            <a:srgbClr val="2C8A6E"/>
          </a:solidFill>
          <a:ln/>
        </p:spPr>
      </p:sp>
      <p:sp>
        <p:nvSpPr>
          <p:cNvPr id="14" name="Shape 12"/>
          <p:cNvSpPr/>
          <p:nvPr/>
        </p:nvSpPr>
        <p:spPr>
          <a:xfrm>
            <a:off x="8083296" y="3099816"/>
            <a:ext cx="384048" cy="384048"/>
          </a:xfrm>
          <a:prstGeom prst="ellipse">
            <a:avLst/>
          </a:prstGeom>
          <a:solidFill>
            <a:srgbClr val="1C7A8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77262" y="2627416"/>
            <a:ext cx="384048" cy="384048"/>
          </a:xfrm>
          <a:prstGeom prst="ellipse">
            <a:avLst/>
          </a:prstGeom>
          <a:solidFill>
            <a:srgbClr val="2A5F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4855" y="2226935"/>
            <a:ext cx="384048" cy="384048"/>
          </a:xfrm>
          <a:prstGeom prst="ellipse">
            <a:avLst/>
          </a:prstGeom>
          <a:solidFill>
            <a:srgbClr val="3A4A8C"/>
          </a:solidFill>
          <a:ln/>
        </p:spPr>
      </p:sp>
      <p:sp>
        <p:nvSpPr>
          <p:cNvPr id="17" name="Shape 15"/>
          <p:cNvSpPr/>
          <p:nvPr/>
        </p:nvSpPr>
        <p:spPr>
          <a:xfrm>
            <a:off x="8845336" y="1959342"/>
            <a:ext cx="384048" cy="384048"/>
          </a:xfrm>
          <a:prstGeom prst="ellipse">
            <a:avLst/>
          </a:prstGeom>
          <a:solidFill>
            <a:srgbClr val="5A3E86"/>
          </a:solidFill>
          <a:ln/>
        </p:spPr>
      </p:sp>
      <p:sp>
        <p:nvSpPr>
          <p:cNvPr id="18" name="Shape 16"/>
          <p:cNvSpPr/>
          <p:nvPr/>
        </p:nvSpPr>
        <p:spPr>
          <a:xfrm>
            <a:off x="9317736" y="1865376"/>
            <a:ext cx="384048" cy="384048"/>
          </a:xfrm>
          <a:prstGeom prst="ellipse">
            <a:avLst/>
          </a:prstGeom>
          <a:solidFill>
            <a:srgbClr val="7A3378"/>
          </a:solidFill>
          <a:ln/>
        </p:spPr>
      </p:sp>
      <p:sp>
        <p:nvSpPr>
          <p:cNvPr id="19" name="Shape 17"/>
          <p:cNvSpPr/>
          <p:nvPr/>
        </p:nvSpPr>
        <p:spPr>
          <a:xfrm>
            <a:off x="9790136" y="1959342"/>
            <a:ext cx="384048" cy="384048"/>
          </a:xfrm>
          <a:prstGeom prst="ellipse">
            <a:avLst/>
          </a:prstGeom>
          <a:solidFill>
            <a:srgbClr val="9328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90617" y="2226935"/>
            <a:ext cx="384048" cy="384048"/>
          </a:xfrm>
          <a:prstGeom prst="ellipse">
            <a:avLst/>
          </a:prstGeom>
          <a:solidFill>
            <a:srgbClr val="A0224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58210" y="2627416"/>
            <a:ext cx="384048" cy="384048"/>
          </a:xfrm>
          <a:prstGeom prst="ellipse">
            <a:avLst/>
          </a:prstGeom>
          <a:solidFill>
            <a:srgbClr val="A81E30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2880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6636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23951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RECORDING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de movimento/fase incham o .rdi; remova os dados extras selecionando a gravação no Explorer → botão Compact Recording.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15 e 16 — Trim e ajuste de contraste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1760" cy="329184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15 · Aparar (Trim)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506257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Recording → Trim → arraste os triângulos vermelhos (início/fim) → Trim Recording → OK. Cria novo arquivo “_trim”; o original só some se você marcar a exclusão. Reduz arquivos longos de eventos transitórios. (≠ da seleção de trecho p/ exportar MP4.)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645920"/>
            <a:ext cx="5391760" cy="329184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16 · Threshold Mapping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97600" y="2066544"/>
            <a:ext cx="506257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ao lado do botão → histograma: aproxime os sliders inferiores da região realmente usada (ignora extremos escuros/claros) → contraste muito melhor; slider direito = brilho. Reset volta; Auto (ou clique direto no botão) aplica o ótimo. Ajustes ficam no .rdi e vão para o MP4 exportado.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5212080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285232"/>
            <a:ext cx="107652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Trim: arquivo pesado com trecho inútil · Threshold: detalhes escondidos em áreas sombreadas.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17 — Região de amplificação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 só o que interessa — ou “des-amplifica” corrimãos, tubulações e eletrodutos que roubam a atenção;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vale o inverso: amplificar um único componente e congelar o resto.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651760"/>
            <a:ext cx="6309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Amplification Region na barra;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Amplification Behavior = “Amplify All” (imagem fica esverdeada);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Shape to Not Amplify = polígono;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com cliques (área excluída fica vermelha); duplo clique fecha; mova/redimensione pelas alças;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→ descreva na exportação (“Região de amplificação editada”).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2651760"/>
            <a:ext cx="4389120" cy="2377440"/>
          </a:xfrm>
          <a:prstGeom prst="roundRect">
            <a:avLst>
              <a:gd name="adj" fmla="val 3846"/>
            </a:avLst>
          </a:prstGeom>
          <a:solidFill>
            <a:srgbClr val="E9F3EC"/>
          </a:solidFill>
          <a:ln w="19050">
            <a:solidFill>
              <a:srgbClr val="1E7A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69680" y="3154680"/>
            <a:ext cx="2377440" cy="1463040"/>
          </a:xfrm>
          <a:prstGeom prst="roundRect">
            <a:avLst>
              <a:gd name="adj" fmla="val 3125"/>
            </a:avLst>
          </a:prstGeom>
          <a:solidFill>
            <a:srgbClr val="FBEAEB"/>
          </a:solidFill>
          <a:ln w="19050">
            <a:solidFill>
              <a:srgbClr val="B01E2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869680" y="31546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excluído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(não amplifica)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25780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533095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.rdi original não muda, mas o ajuste permanece via hierarquia do Explorer — mesmo fechando e reabrindo — e vale nos vídeos exportados.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e anotações — Exercício 18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19202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Show/Hide Grid dá uma referência estática — movimentos ficam evidentes;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ao lado do botão: cor e tamanho; reposicione com as setas do teclado ou arrastando.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474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Anotações (Annotation Editor)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8404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Texto, linha, retângulo, elipse, polilinha, polígono, imagem, logotipo, régua, transferidor, data/hora e gráfico (conectável a uma ROI);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Mover: arraste · redimensionar: alças brancas · excluir: botão direito → delete annotation.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23232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18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2944368"/>
            <a:ext cx="4800600" cy="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602736"/>
            <a:ext cx="4800600" cy="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4261104"/>
            <a:ext cx="4800600" cy="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4919472"/>
            <a:ext cx="4800600" cy="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2286000"/>
            <a:ext cx="0" cy="329184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286000"/>
            <a:ext cx="0" cy="329184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1080" y="2286000"/>
            <a:ext cx="0" cy="329184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286000"/>
            <a:ext cx="0" cy="329184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2286000"/>
            <a:ext cx="0" cy="329184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2286000"/>
            <a:ext cx="0" cy="3291840"/>
          </a:xfrm>
          <a:prstGeom prst="line">
            <a:avLst/>
          </a:prstGeom>
          <a:noFill/>
          <a:ln w="9525">
            <a:solidFill>
              <a:srgbClr val="E8C63D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402336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3A3A44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023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da máquina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rot="7500000">
            <a:off x="8778240" y="2834640"/>
            <a:ext cx="1188720" cy="502920"/>
          </a:xfrm>
          <a:prstGeom prst="rightArrow">
            <a:avLst/>
          </a:prstGeom>
          <a:solidFill>
            <a:srgbClr val="B01E24"/>
          </a:solidFill>
          <a:ln/>
        </p:spPr>
      </p:sp>
      <p:sp>
        <p:nvSpPr>
          <p:cNvPr id="24" name="Text 22"/>
          <p:cNvSpPr/>
          <p:nvPr/>
        </p:nvSpPr>
        <p:spPr>
          <a:xfrm>
            <a:off x="946404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“Base não presa”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512064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vermelha + texto + grade amarela → exporte e renomeie para “Anotação com Grade.mp4”.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MEDIÇÃO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padrão de vibração — as 4 regras da ROI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3619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a ROI (clique e arraste) onde quer medir — ROIs ilimitadas por imagem. ROI mal feita = dado enganoso.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5414620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1284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Mantenha pequena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23744"/>
            <a:ext cx="50854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ROIs pequenas são mais exatas: região grande aumenta a chance de capturar movimento de itens indesejados.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0148" y="2103120"/>
            <a:ext cx="5414620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4740" y="221284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Use contraste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74740" y="2523744"/>
            <a:ext cx="50854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contraste, o software não “enxerga” vibração — nada de dados. Use os adesivos/ímãs de contraste do kit ou um marcador.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5414620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2452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Um componente só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35424"/>
            <a:ext cx="50854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componentes na mesma ROI = impossível saber quem gerou o dado. Bordas só valem se o fundo atrás não tiver contraste.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0148" y="4114800"/>
            <a:ext cx="5414620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4740" y="4224528"/>
            <a:ext cx="5085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Rotativos: nunca no modo XY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74740" y="4535424"/>
            <a:ext cx="508543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modo padrão XY não mede componentes girantes — dados inválidos. Use os modos Horizontal/Vertical Shaft.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MEDIÇÃO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Medições de eixo horizontal/vertical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59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6583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“ROI Calculation Mode” na barra de ferramentas;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Shaft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(eixo deitado) → mede o deslocamento VERTICAL;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Shaft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(eixo em pé) → mede o deslocamento HORIZONTAL;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a ROI sobre a BORDA do eixo/rotor;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forma de onda + espectro em um único eixo — use o valor Máx Pk-Pk da onda como resultado.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17373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31089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C9C9D2"/>
          </a:solidFill>
          <a:ln w="12700">
            <a:solidFill>
              <a:srgbClr val="6B6B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2907792"/>
            <a:ext cx="1188720" cy="457200"/>
          </a:xfrm>
          <a:prstGeom prst="rect">
            <a:avLst/>
          </a:prstGeom>
          <a:ln w="25400">
            <a:solidFill>
              <a:srgbClr val="B01E2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522208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na borda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0" y="2743200"/>
            <a:ext cx="384048" cy="1508760"/>
          </a:xfrm>
          <a:prstGeom prst="upDownArrow">
            <a:avLst/>
          </a:prstGeom>
          <a:solidFill>
            <a:srgbClr val="1E7A46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 o deslocamento vertical (Horizontal Shaft)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MEDIÇÃO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Formas de onda, espectros e órbitas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33546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 de onda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320436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Deslocamento (µm/mils) × tempo (s). Gerada automaticamente em X e Y ao desenhar a ROI. Duração = duração da gravação (120 fps → 120 amostras/s).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9074" y="1691640"/>
            <a:ext cx="3533546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3666" y="180136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Espectro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93666" y="2112264"/>
            <a:ext cx="320436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Deslocamento × frequência (Hz/CPM), calculado da forma de onda. Fmáx = exatamente metade da taxa de quadros da aquisição.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1221" y="1691640"/>
            <a:ext cx="3533546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5813" y="180136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X-Y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5813" y="2112264"/>
            <a:ext cx="320436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demanda: botão Orbit após a ROI. Traça X contra Y. Órbitas filtradas são as úteis — filtre antes de gerar.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818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onda: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81328" y="5257800"/>
            <a:ext cx="45720" cy="274320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17" name="Shape 15"/>
          <p:cNvSpPr/>
          <p:nvPr/>
        </p:nvSpPr>
        <p:spPr>
          <a:xfrm>
            <a:off x="1586484" y="5164684"/>
            <a:ext cx="45720" cy="460551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1640" y="5142037"/>
            <a:ext cx="45720" cy="505846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19" name="Shape 17"/>
          <p:cNvSpPr/>
          <p:nvPr/>
        </p:nvSpPr>
        <p:spPr>
          <a:xfrm>
            <a:off x="1796796" y="5206996"/>
            <a:ext cx="45720" cy="375927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1952" y="5310403"/>
            <a:ext cx="45720" cy="169113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1" name="Shape 19"/>
          <p:cNvSpPr/>
          <p:nvPr/>
        </p:nvSpPr>
        <p:spPr>
          <a:xfrm>
            <a:off x="2007108" y="5374001"/>
            <a:ext cx="45720" cy="41918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2" name="Shape 20"/>
          <p:cNvSpPr/>
          <p:nvPr/>
        </p:nvSpPr>
        <p:spPr>
          <a:xfrm>
            <a:off x="2112264" y="5349660"/>
            <a:ext cx="45720" cy="90600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3" name="Shape 21"/>
          <p:cNvSpPr/>
          <p:nvPr/>
        </p:nvSpPr>
        <p:spPr>
          <a:xfrm>
            <a:off x="2217420" y="5255801"/>
            <a:ext cx="45720" cy="278317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4" name="Shape 22"/>
          <p:cNvSpPr/>
          <p:nvPr/>
        </p:nvSpPr>
        <p:spPr>
          <a:xfrm>
            <a:off x="2322576" y="5163455"/>
            <a:ext cx="45720" cy="463010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5" name="Shape 23"/>
          <p:cNvSpPr/>
          <p:nvPr/>
        </p:nvSpPr>
        <p:spPr>
          <a:xfrm>
            <a:off x="2427732" y="5142507"/>
            <a:ext cx="45720" cy="504905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6" name="Shape 24"/>
          <p:cNvSpPr/>
          <p:nvPr/>
        </p:nvSpPr>
        <p:spPr>
          <a:xfrm>
            <a:off x="2532888" y="5208811"/>
            <a:ext cx="45720" cy="372299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7" name="Shape 25"/>
          <p:cNvSpPr/>
          <p:nvPr/>
        </p:nvSpPr>
        <p:spPr>
          <a:xfrm>
            <a:off x="2638044" y="5312188"/>
            <a:ext cx="45720" cy="165544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5374406"/>
            <a:ext cx="45720" cy="41108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29" name="Shape 27"/>
          <p:cNvSpPr/>
          <p:nvPr/>
        </p:nvSpPr>
        <p:spPr>
          <a:xfrm>
            <a:off x="2848356" y="5348379"/>
            <a:ext cx="45720" cy="93163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0" name="Shape 28"/>
          <p:cNvSpPr/>
          <p:nvPr/>
        </p:nvSpPr>
        <p:spPr>
          <a:xfrm>
            <a:off x="2953512" y="5253803"/>
            <a:ext cx="45720" cy="282314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1" name="Shape 29"/>
          <p:cNvSpPr/>
          <p:nvPr/>
        </p:nvSpPr>
        <p:spPr>
          <a:xfrm>
            <a:off x="3058668" y="5162253"/>
            <a:ext cx="45720" cy="465415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2" name="Shape 30"/>
          <p:cNvSpPr/>
          <p:nvPr/>
        </p:nvSpPr>
        <p:spPr>
          <a:xfrm>
            <a:off x="3163824" y="5143010"/>
            <a:ext cx="45720" cy="503899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3" name="Shape 31"/>
          <p:cNvSpPr/>
          <p:nvPr/>
        </p:nvSpPr>
        <p:spPr>
          <a:xfrm>
            <a:off x="3268980" y="5210639"/>
            <a:ext cx="45720" cy="368643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4" name="Shape 32"/>
          <p:cNvSpPr/>
          <p:nvPr/>
        </p:nvSpPr>
        <p:spPr>
          <a:xfrm>
            <a:off x="3374136" y="5313958"/>
            <a:ext cx="45720" cy="162005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5" name="Shape 33"/>
          <p:cNvSpPr/>
          <p:nvPr/>
        </p:nvSpPr>
        <p:spPr>
          <a:xfrm>
            <a:off x="3479292" y="5374778"/>
            <a:ext cx="45720" cy="40364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6" name="Shape 34"/>
          <p:cNvSpPr/>
          <p:nvPr/>
        </p:nvSpPr>
        <p:spPr>
          <a:xfrm>
            <a:off x="3584448" y="5347071"/>
            <a:ext cx="45720" cy="95777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7" name="Shape 35"/>
          <p:cNvSpPr/>
          <p:nvPr/>
        </p:nvSpPr>
        <p:spPr>
          <a:xfrm>
            <a:off x="3689604" y="5251806"/>
            <a:ext cx="45720" cy="286308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8" name="Shape 36"/>
          <p:cNvSpPr/>
          <p:nvPr/>
        </p:nvSpPr>
        <p:spPr>
          <a:xfrm>
            <a:off x="3794760" y="5161077"/>
            <a:ext cx="45720" cy="467766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39" name="Shape 37"/>
          <p:cNvSpPr/>
          <p:nvPr/>
        </p:nvSpPr>
        <p:spPr>
          <a:xfrm>
            <a:off x="3899916" y="5143546"/>
            <a:ext cx="45720" cy="502828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0" name="Shape 38"/>
          <p:cNvSpPr/>
          <p:nvPr/>
        </p:nvSpPr>
        <p:spPr>
          <a:xfrm>
            <a:off x="4005072" y="5212480"/>
            <a:ext cx="45720" cy="364960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1" name="Shape 39"/>
          <p:cNvSpPr/>
          <p:nvPr/>
        </p:nvSpPr>
        <p:spPr>
          <a:xfrm>
            <a:off x="4110228" y="5315711"/>
            <a:ext cx="45720" cy="158497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2" name="Shape 40"/>
          <p:cNvSpPr/>
          <p:nvPr/>
        </p:nvSpPr>
        <p:spPr>
          <a:xfrm>
            <a:off x="4215384" y="5375117"/>
            <a:ext cx="45720" cy="39687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3" name="Shape 41"/>
          <p:cNvSpPr/>
          <p:nvPr/>
        </p:nvSpPr>
        <p:spPr>
          <a:xfrm>
            <a:off x="4320540" y="5345739"/>
            <a:ext cx="45720" cy="98442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4" name="Shape 42"/>
          <p:cNvSpPr/>
          <p:nvPr/>
        </p:nvSpPr>
        <p:spPr>
          <a:xfrm>
            <a:off x="4425696" y="5249811"/>
            <a:ext cx="45720" cy="290298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5" name="Shape 43"/>
          <p:cNvSpPr/>
          <p:nvPr/>
        </p:nvSpPr>
        <p:spPr>
          <a:xfrm>
            <a:off x="4530852" y="5159929"/>
            <a:ext cx="45720" cy="470062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6" name="Shape 44"/>
          <p:cNvSpPr/>
          <p:nvPr/>
        </p:nvSpPr>
        <p:spPr>
          <a:xfrm>
            <a:off x="4636008" y="5144114"/>
            <a:ext cx="45720" cy="501693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7" name="Shape 45"/>
          <p:cNvSpPr/>
          <p:nvPr/>
        </p:nvSpPr>
        <p:spPr>
          <a:xfrm>
            <a:off x="4741164" y="5214334"/>
            <a:ext cx="45720" cy="361252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8" name="Shape 46"/>
          <p:cNvSpPr/>
          <p:nvPr/>
        </p:nvSpPr>
        <p:spPr>
          <a:xfrm>
            <a:off x="4846320" y="5317449"/>
            <a:ext cx="45720" cy="155023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49" name="Shape 47"/>
          <p:cNvSpPr/>
          <p:nvPr/>
        </p:nvSpPr>
        <p:spPr>
          <a:xfrm>
            <a:off x="4951476" y="5375422"/>
            <a:ext cx="45720" cy="39075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0" name="Shape 48"/>
          <p:cNvSpPr/>
          <p:nvPr/>
        </p:nvSpPr>
        <p:spPr>
          <a:xfrm>
            <a:off x="5056632" y="5344382"/>
            <a:ext cx="45720" cy="101157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1" name="Shape 49"/>
          <p:cNvSpPr/>
          <p:nvPr/>
        </p:nvSpPr>
        <p:spPr>
          <a:xfrm>
            <a:off x="5161788" y="5247818"/>
            <a:ext cx="45720" cy="294284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2" name="Shape 50"/>
          <p:cNvSpPr/>
          <p:nvPr/>
        </p:nvSpPr>
        <p:spPr>
          <a:xfrm>
            <a:off x="5266944" y="5158808"/>
            <a:ext cx="45720" cy="472304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3" name="Shape 51"/>
          <p:cNvSpPr/>
          <p:nvPr/>
        </p:nvSpPr>
        <p:spPr>
          <a:xfrm>
            <a:off x="5372100" y="5144714"/>
            <a:ext cx="45720" cy="500493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4" name="Shape 52"/>
          <p:cNvSpPr/>
          <p:nvPr/>
        </p:nvSpPr>
        <p:spPr>
          <a:xfrm>
            <a:off x="5477256" y="5216201"/>
            <a:ext cx="45720" cy="357519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5" name="Shape 53"/>
          <p:cNvSpPr/>
          <p:nvPr/>
        </p:nvSpPr>
        <p:spPr>
          <a:xfrm>
            <a:off x="5582412" y="5319169"/>
            <a:ext cx="45720" cy="151582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6" name="Shape 54"/>
          <p:cNvSpPr/>
          <p:nvPr/>
        </p:nvSpPr>
        <p:spPr>
          <a:xfrm>
            <a:off x="5687568" y="5375695"/>
            <a:ext cx="45720" cy="38531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7" name="Shape 55"/>
          <p:cNvSpPr/>
          <p:nvPr/>
        </p:nvSpPr>
        <p:spPr>
          <a:xfrm>
            <a:off x="5792724" y="5343000"/>
            <a:ext cx="45720" cy="103920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8" name="Shape 56"/>
          <p:cNvSpPr/>
          <p:nvPr/>
        </p:nvSpPr>
        <p:spPr>
          <a:xfrm>
            <a:off x="5897880" y="5245828"/>
            <a:ext cx="45720" cy="298265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59" name="Shape 57"/>
          <p:cNvSpPr/>
          <p:nvPr/>
        </p:nvSpPr>
        <p:spPr>
          <a:xfrm>
            <a:off x="6003036" y="5157716"/>
            <a:ext cx="45720" cy="474489"/>
          </a:xfrm>
          <a:prstGeom prst="rect">
            <a:avLst/>
          </a:prstGeom>
          <a:solidFill>
            <a:srgbClr val="1C5D8C"/>
          </a:solidFill>
          <a:ln/>
        </p:spPr>
      </p:sp>
      <p:sp>
        <p:nvSpPr>
          <p:cNvPr id="60" name="Text 58"/>
          <p:cNvSpPr/>
          <p:nvPr/>
        </p:nvSpPr>
        <p:spPr>
          <a:xfrm>
            <a:off x="6601968" y="4818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espectro: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36408" y="5650992"/>
            <a:ext cx="128016" cy="22860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2" name="Shape 60"/>
          <p:cNvSpPr/>
          <p:nvPr/>
        </p:nvSpPr>
        <p:spPr>
          <a:xfrm>
            <a:off x="8202168" y="4965192"/>
            <a:ext cx="128016" cy="91440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3" name="Shape 61"/>
          <p:cNvSpPr/>
          <p:nvPr/>
        </p:nvSpPr>
        <p:spPr>
          <a:xfrm>
            <a:off x="8567928" y="5513832"/>
            <a:ext cx="128016" cy="36576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4" name="Shape 62"/>
          <p:cNvSpPr/>
          <p:nvPr/>
        </p:nvSpPr>
        <p:spPr>
          <a:xfrm>
            <a:off x="9162288" y="5312664"/>
            <a:ext cx="128016" cy="566928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5" name="Shape 63"/>
          <p:cNvSpPr/>
          <p:nvPr/>
        </p:nvSpPr>
        <p:spPr>
          <a:xfrm>
            <a:off x="9893808" y="5605272"/>
            <a:ext cx="128016" cy="27432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6" name="Shape 64"/>
          <p:cNvSpPr/>
          <p:nvPr/>
        </p:nvSpPr>
        <p:spPr>
          <a:xfrm>
            <a:off x="10716768" y="5715000"/>
            <a:ext cx="128016" cy="164592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67" name="Shape 65"/>
          <p:cNvSpPr/>
          <p:nvPr/>
        </p:nvSpPr>
        <p:spPr>
          <a:xfrm>
            <a:off x="7607808" y="5897880"/>
            <a:ext cx="3566160" cy="0"/>
          </a:xfrm>
          <a:prstGeom prst="line">
            <a:avLst/>
          </a:prstGeom>
          <a:noFill/>
          <a:ln w="19050">
            <a:solidFill>
              <a:srgbClr val="232329"/>
            </a:solidFill>
            <a:prstDash val="solid"/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MEDIÇÃO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19 — Gráficos de vibração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a ROI → janelas de onda e espectro abrem;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espectro X e centralize o cursor no pico com as setas do teclado (freq./amp. no canto inferior);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direito → Setup Options → unidade de amplitude = Displacement;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 “Automatically Locate Spectrum Peaks” — estima o centro verdadeiro do pico (resolução do espectro é limitada; há também “Locate Peak” manual);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configurações do aplicativo, alterne Hz ↔ CPM; reabra o espectro e confira;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direito → Save Image → Current Plot → Include Asset Image;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Nomeie (“data — Rotor Kit lado direito”) → o .png entra na árvore do ativo no Explorer.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863840" y="1691640"/>
            <a:ext cx="3749040" cy="4114800"/>
          </a:xfrm>
          <a:prstGeom prst="roundRect">
            <a:avLst>
              <a:gd name="adj" fmla="val 2439"/>
            </a:avLst>
          </a:prstGeom>
          <a:solidFill>
            <a:srgbClr val="232329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NO PICO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38160" y="4892040"/>
            <a:ext cx="3200400" cy="0"/>
          </a:xfrm>
          <a:prstGeom prst="line">
            <a:avLst/>
          </a:prstGeom>
          <a:noFill/>
          <a:ln w="19050">
            <a:solidFill>
              <a:srgbClr val="6B6B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4434840"/>
            <a:ext cx="155448" cy="457200"/>
          </a:xfrm>
          <a:prstGeom prst="rect">
            <a:avLst/>
          </a:prstGeom>
          <a:solidFill>
            <a:srgbClr val="55555F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0" y="2788920"/>
            <a:ext cx="155448" cy="210312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0" y="4160520"/>
            <a:ext cx="155448" cy="731520"/>
          </a:xfrm>
          <a:prstGeom prst="rect">
            <a:avLst/>
          </a:prstGeom>
          <a:solidFill>
            <a:srgbClr val="5555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49840" y="3886200"/>
            <a:ext cx="155448" cy="1005840"/>
          </a:xfrm>
          <a:prstGeom prst="rect">
            <a:avLst/>
          </a:prstGeom>
          <a:solidFill>
            <a:srgbClr val="5555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89920" y="4526280"/>
            <a:ext cx="155448" cy="365760"/>
          </a:xfrm>
          <a:prstGeom prst="rect">
            <a:avLst/>
          </a:prstGeom>
          <a:solidFill>
            <a:srgbClr val="55555F"/>
          </a:solidFill>
          <a:ln/>
        </p:spPr>
      </p:sp>
      <p:sp>
        <p:nvSpPr>
          <p:cNvPr id="14" name="Shape 12"/>
          <p:cNvSpPr/>
          <p:nvPr/>
        </p:nvSpPr>
        <p:spPr>
          <a:xfrm>
            <a:off x="9038844" y="2377440"/>
            <a:ext cx="0" cy="2514600"/>
          </a:xfrm>
          <a:prstGeom prst="line">
            <a:avLst/>
          </a:prstGeom>
          <a:noFill/>
          <a:ln w="15875">
            <a:solidFill>
              <a:srgbClr val="E5484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092440" y="5074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43,38 Hz · 0,17 mils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MEDIÇÃO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Múltiplas distâncias — Exercício 20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BEAEB"/>
          </a:solidFill>
          <a:ln w="15875">
            <a:solidFill>
              <a:srgbClr val="B0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28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10%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5528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na distância vira erro igual na amplitude — e em cenas grandes a distância varia muito entre as partes.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Locations na barra → Define Locations → Add;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Arraste o marcador ao ponto da nova distância (o padrão também pode ser movido);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Nomeie e informe a distância → OK;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a ROI no ponto de medição;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sobre a ROI → ROI Properties → selecione a distância certa;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Feche — os cálculos são refeitos com a nova distância.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512064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19379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vários locais definidos, escolher a distância errada gera deslocamentos bem imprecisos. O recurso existe na Aquisição e no MA.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FILTROS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baseados em frequência — Exercício 21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1760" cy="2377440"/>
          </a:xfrm>
          <a:prstGeom prst="roundRect">
            <a:avLst>
              <a:gd name="adj" fmla="val 3462"/>
            </a:avLst>
          </a:prstGeom>
          <a:solidFill>
            <a:srgbClr val="FBEAEB"/>
          </a:solidFill>
          <a:ln w="12700">
            <a:solidFill>
              <a:srgbClr val="B01E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filtrar?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66544"/>
            <a:ext cx="50625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Ver o movimento só nas frequências escolhidas — separa funções de força em máquinas com vários componentes/velocidades. 2) Limpa ruído e granulação: vídeos muito amplificados voltam a parecer originais.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645920"/>
            <a:ext cx="5391760" cy="2377440"/>
          </a:xfrm>
          <a:prstGeom prst="roundRect">
            <a:avLst>
              <a:gd name="adj" fmla="val 3462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7556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(Ex. 21)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97600" y="2066544"/>
            <a:ext cx="506257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Recording → desenhe a ROI de interesse (espectro-guia aparece) → Add Filter → Type: Bandpass → arraste os puxadores vermelhos ao redor do pico (Low/High) → Apply.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297680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arquivo “_filtered”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.rdi original permanece intacto; o filtrado já entra no Explorer;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Bônus: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filtragem pode eliminar a oscilação da câmera sem estabilização (se o tremor está fora da banda);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5577840"/>
            <a:ext cx="11057839" cy="640080"/>
          </a:xfrm>
          <a:prstGeom prst="roundRect">
            <a:avLst>
              <a:gd name="adj" fmla="val 11429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650992"/>
            <a:ext cx="107652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câmera tremendo em frequência diferente da análise? Filtre primeiro — talvez nem precise estabilizar.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FILTROS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Filtragem por amplitude e por frequências dominantes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1760" cy="2651760"/>
          </a:xfrm>
          <a:prstGeom prst="roundRect">
            <a:avLst>
              <a:gd name="adj" fmla="val 310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 Threshold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506257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Arraste a linha amarela sobre o espectro: só os picos ACIMA dela passam. Elimina a maior parte do ruído preservando o movimento importante. Gera UMA gravação filtrada (série interna de passa-bandas em torno dos picos).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391760" cy="2651760"/>
          </a:xfrm>
          <a:prstGeom prst="roundRect">
            <a:avLst>
              <a:gd name="adj" fmla="val 310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Frequencies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97600" y="2112264"/>
            <a:ext cx="506257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software monta um espectro composto da imagem INTEIRA, lista os picos dominantes e cria passa-bandas automáticos. Marque/desmarque frequências e ajuste as bandas; Apply gera UMA gravação filtrada POR pico selecionado.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57200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5623560"/>
            <a:ext cx="10149840" cy="0"/>
          </a:xfrm>
          <a:prstGeom prst="line">
            <a:avLst/>
          </a:prstGeom>
          <a:noFill/>
          <a:ln w="19050">
            <a:solidFill>
              <a:srgbClr val="2323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4846320"/>
            <a:ext cx="146304" cy="77724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4" name="Shape 12"/>
          <p:cNvSpPr/>
          <p:nvPr/>
        </p:nvSpPr>
        <p:spPr>
          <a:xfrm>
            <a:off x="3127248" y="5166360"/>
            <a:ext cx="146304" cy="457200"/>
          </a:xfrm>
          <a:prstGeom prst="rect">
            <a:avLst/>
          </a:prstGeom>
          <a:solidFill>
            <a:srgbClr val="C9C9D2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5968" y="4709160"/>
            <a:ext cx="146304" cy="91440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61888" y="5303520"/>
            <a:ext cx="146304" cy="320040"/>
          </a:xfrm>
          <a:prstGeom prst="rect">
            <a:avLst/>
          </a:prstGeom>
          <a:solidFill>
            <a:srgbClr val="C9C9D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24928" y="4937760"/>
            <a:ext cx="146304" cy="685800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8048" y="5349240"/>
            <a:ext cx="146304" cy="274320"/>
          </a:xfrm>
          <a:prstGeom prst="rect">
            <a:avLst/>
          </a:prstGeom>
          <a:solidFill>
            <a:srgbClr val="C9C9D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33888" y="5166360"/>
            <a:ext cx="146304" cy="457200"/>
          </a:xfrm>
          <a:prstGeom prst="rect">
            <a:avLst/>
          </a:prstGeom>
          <a:solidFill>
            <a:srgbClr val="C9C9D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" y="5074920"/>
            <a:ext cx="10149840" cy="0"/>
          </a:xfrm>
          <a:prstGeom prst="line">
            <a:avLst/>
          </a:prstGeom>
          <a:noFill/>
          <a:ln w="25400">
            <a:solidFill>
              <a:srgbClr val="E8C63D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024128" y="4681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amarela = limite de amplitude (verde passa, cinza não)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FILTROS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filtros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1760" cy="2103120"/>
          </a:xfrm>
          <a:prstGeom prst="roundRect">
            <a:avLst>
              <a:gd name="adj" fmla="val 391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37360"/>
            <a:ext cx="502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BANDPASS · passa-banda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5528" y="2148840"/>
            <a:ext cx="1480368" cy="777240"/>
          </a:xfrm>
          <a:prstGeom prst="rect">
            <a:avLst/>
          </a:prstGeom>
          <a:solidFill>
            <a:srgbClr val="F6D9DA"/>
          </a:solidFill>
          <a:ln/>
        </p:spPr>
      </p:sp>
      <p:sp>
        <p:nvSpPr>
          <p:cNvPr id="8" name="Shape 6"/>
          <p:cNvSpPr/>
          <p:nvPr/>
        </p:nvSpPr>
        <p:spPr>
          <a:xfrm>
            <a:off x="2275896" y="2148840"/>
            <a:ext cx="1727096" cy="777240"/>
          </a:xfrm>
          <a:prstGeom prst="rect">
            <a:avLst/>
          </a:prstGeom>
          <a:solidFill>
            <a:srgbClr val="D4EBDD"/>
          </a:solidFill>
          <a:ln/>
        </p:spPr>
      </p:sp>
      <p:sp>
        <p:nvSpPr>
          <p:cNvPr id="9" name="Shape 7"/>
          <p:cNvSpPr/>
          <p:nvPr/>
        </p:nvSpPr>
        <p:spPr>
          <a:xfrm>
            <a:off x="4002992" y="2148840"/>
            <a:ext cx="1727096" cy="777240"/>
          </a:xfrm>
          <a:prstGeom prst="rect">
            <a:avLst/>
          </a:prstGeom>
          <a:solidFill>
            <a:srgbClr val="F6D9DA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" y="2926080"/>
            <a:ext cx="4934560" cy="0"/>
          </a:xfrm>
          <a:prstGeom prst="line">
            <a:avLst/>
          </a:prstGeom>
          <a:noFill/>
          <a:ln w="19050">
            <a:solidFill>
              <a:srgbClr val="2323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017520"/>
            <a:ext cx="502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cortes Low e High: passa só o intervalo entre eles.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645920"/>
            <a:ext cx="5391760" cy="2103120"/>
          </a:xfrm>
          <a:prstGeom prst="roundRect">
            <a:avLst>
              <a:gd name="adj" fmla="val 391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5888" y="1737360"/>
            <a:ext cx="502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LOWPASS · passa-baixa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61608" y="2148840"/>
            <a:ext cx="2220552" cy="777240"/>
          </a:xfrm>
          <a:prstGeom prst="rect">
            <a:avLst/>
          </a:prstGeom>
          <a:solidFill>
            <a:srgbClr val="D4EBDD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2159" y="2148840"/>
            <a:ext cx="2714008" cy="777240"/>
          </a:xfrm>
          <a:prstGeom prst="rect">
            <a:avLst/>
          </a:prstGeom>
          <a:solidFill>
            <a:srgbClr val="F6D9D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1608" y="2926080"/>
            <a:ext cx="4934560" cy="0"/>
          </a:xfrm>
          <a:prstGeom prst="line">
            <a:avLst/>
          </a:prstGeom>
          <a:noFill/>
          <a:ln w="19050">
            <a:solidFill>
              <a:srgbClr val="2323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5888" y="3017520"/>
            <a:ext cx="502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corte High: passam as frequências abaixo dele.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931920"/>
            <a:ext cx="5391760" cy="2103120"/>
          </a:xfrm>
          <a:prstGeom prst="roundRect">
            <a:avLst>
              <a:gd name="adj" fmla="val 391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023360"/>
            <a:ext cx="502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HIGHPASS · passa-alta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5528" y="4434840"/>
            <a:ext cx="2220552" cy="777240"/>
          </a:xfrm>
          <a:prstGeom prst="rect">
            <a:avLst/>
          </a:prstGeom>
          <a:solidFill>
            <a:srgbClr val="F6D9DA"/>
          </a:solidFill>
          <a:ln/>
        </p:spPr>
      </p:sp>
      <p:sp>
        <p:nvSpPr>
          <p:cNvPr id="21" name="Shape 19"/>
          <p:cNvSpPr/>
          <p:nvPr/>
        </p:nvSpPr>
        <p:spPr>
          <a:xfrm>
            <a:off x="3016080" y="4434840"/>
            <a:ext cx="2714008" cy="777240"/>
          </a:xfrm>
          <a:prstGeom prst="rect">
            <a:avLst/>
          </a:prstGeom>
          <a:solidFill>
            <a:srgbClr val="D4EBDD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" y="5212080"/>
            <a:ext cx="4934560" cy="0"/>
          </a:xfrm>
          <a:prstGeom prst="line">
            <a:avLst/>
          </a:prstGeom>
          <a:noFill/>
          <a:ln w="19050">
            <a:solidFill>
              <a:srgbClr val="2323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303520"/>
            <a:ext cx="502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corte Low: passam as frequências acima dele.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3008" y="3931920"/>
            <a:ext cx="5391760" cy="2103120"/>
          </a:xfrm>
          <a:prstGeom prst="roundRect">
            <a:avLst>
              <a:gd name="adj" fmla="val 391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5888" y="4023360"/>
            <a:ext cx="502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BANDSTOP · rejeita-banda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61608" y="4434840"/>
            <a:ext cx="1480368" cy="777240"/>
          </a:xfrm>
          <a:prstGeom prst="rect">
            <a:avLst/>
          </a:prstGeom>
          <a:solidFill>
            <a:srgbClr val="D4EBDD"/>
          </a:solidFill>
          <a:ln/>
        </p:spPr>
      </p:sp>
      <p:sp>
        <p:nvSpPr>
          <p:cNvPr id="27" name="Shape 25"/>
          <p:cNvSpPr/>
          <p:nvPr/>
        </p:nvSpPr>
        <p:spPr>
          <a:xfrm>
            <a:off x="7941975" y="4434840"/>
            <a:ext cx="1727096" cy="777240"/>
          </a:xfrm>
          <a:prstGeom prst="rect">
            <a:avLst/>
          </a:prstGeom>
          <a:solidFill>
            <a:srgbClr val="F6D9DA"/>
          </a:solidFill>
          <a:ln/>
        </p:spPr>
      </p:sp>
      <p:sp>
        <p:nvSpPr>
          <p:cNvPr id="28" name="Shape 26"/>
          <p:cNvSpPr/>
          <p:nvPr/>
        </p:nvSpPr>
        <p:spPr>
          <a:xfrm>
            <a:off x="9669071" y="4434840"/>
            <a:ext cx="1727096" cy="777240"/>
          </a:xfrm>
          <a:prstGeom prst="rect">
            <a:avLst/>
          </a:prstGeom>
          <a:solidFill>
            <a:srgbClr val="D4EBDD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1608" y="5212080"/>
            <a:ext cx="4934560" cy="0"/>
          </a:xfrm>
          <a:prstGeom prst="line">
            <a:avLst/>
          </a:prstGeom>
          <a:noFill/>
          <a:ln w="19050">
            <a:solidFill>
              <a:srgbClr val="2323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5888" y="5303520"/>
            <a:ext cx="502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 tudo, exceto o intervalo entre Low e High.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1264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= passa · vermelho = bloqueado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Vetores de movimento — Exercício 22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duas ROIs, uma de cada lado do ativo;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 no botão Motion Vectors — as ROIs viram setas vetoriais animadas;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ao lado do botão → opções: escala das linhas, unidades, orientação (X, Y ou X&amp;Y) e cores.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4206240"/>
            <a:ext cx="6400800" cy="1371600"/>
          </a:xfrm>
          <a:prstGeom prst="roundRect">
            <a:avLst>
              <a:gd name="adj" fmla="val 5333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279392"/>
            <a:ext cx="610819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SERVEM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mostram amplitude E fase graficamente — dois vetores em oposição contam a história do desalinhamento num relance. Valem para qualquer ROI com dados X/Y.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0" y="1737360"/>
            <a:ext cx="4297680" cy="3840480"/>
          </a:xfrm>
          <a:prstGeom prst="roundRect">
            <a:avLst>
              <a:gd name="adj" fmla="val 2381"/>
            </a:avLst>
          </a:prstGeom>
          <a:solidFill>
            <a:srgbClr val="232329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3017520"/>
            <a:ext cx="2286000" cy="1280160"/>
          </a:xfrm>
          <a:prstGeom prst="roundRect">
            <a:avLst>
              <a:gd name="adj" fmla="val 4286"/>
            </a:avLst>
          </a:prstGeom>
          <a:solidFill>
            <a:srgbClr val="3A3A44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6200000">
            <a:off x="7543800" y="3291840"/>
            <a:ext cx="1051560" cy="457200"/>
          </a:xfrm>
          <a:prstGeom prst="rightArrow">
            <a:avLst/>
          </a:prstGeom>
          <a:solidFill>
            <a:srgbClr val="E5484D"/>
          </a:solidFill>
          <a:ln/>
        </p:spPr>
      </p:sp>
      <p:sp>
        <p:nvSpPr>
          <p:cNvPr id="12" name="Shape 10"/>
          <p:cNvSpPr/>
          <p:nvPr/>
        </p:nvSpPr>
        <p:spPr>
          <a:xfrm rot="5400000">
            <a:off x="10744200" y="3520440"/>
            <a:ext cx="1051560" cy="457200"/>
          </a:xfrm>
          <a:prstGeom prst="rightArrow">
            <a:avLst/>
          </a:prstGeom>
          <a:solidFill>
            <a:srgbClr val="3DA5E8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4892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vetores animados: comprimento = amplitude · sentido = fase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ANÁLISE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Estabilização da imagem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Piso vibrando e vento sacodem a câmera — o tremor entra na gravação e, amplificado, pode inviabilizar a análise;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de ataque: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isolar melhor/reposicionar o tripé · 2º tentar filtragem · 3º estabilização digital (último recurso).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017520"/>
            <a:ext cx="5391760" cy="1737360"/>
          </a:xfrm>
          <a:prstGeom prst="roundRect">
            <a:avLst>
              <a:gd name="adj" fmla="val 473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272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Entire Frame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438144"/>
            <a:ext cx="50625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Estabilização automática, sem entradas. Use quando o ativo ocupa MENOS da metade da cena.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3017520"/>
            <a:ext cx="5391760" cy="1737360"/>
          </a:xfrm>
          <a:prstGeom prst="roundRect">
            <a:avLst>
              <a:gd name="adj" fmla="val 4737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7600" y="312724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Portion of Frame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97600" y="3438144"/>
            <a:ext cx="50625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 ROIs sobre o FUNDO (nunca sobre o ativo!), maximizando fundo com contraste — acrescente marcações se faltar. Use quando o ativo ocupa MAIS da metade.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4937760"/>
            <a:ext cx="110578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.rdi: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estabilizada abre no MA; a original fecha — e permanece intacta no Explorer;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filtro + estabilização: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estabilize primeiro, filtre depois. (Mas se o tremor está fora da banda de análise, o filtro sozinho resolve.)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5 · REVISÃO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de fixação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slider de amplificação muda a forma de onda?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amplificação é só visual; medições intactas.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Quantas ROIs por imagem?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Ilimitadas.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de 30 Hz passa num passa-baixa de 60 Hz?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— 30 Hz está abaixo do corte.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altera o .rdi original?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cria um novo arquivo “_filtered”.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para plotar aceleração em g?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— nas opções dos gráficos (deslocamento, velocidade ou aceleração).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33008" y="1481328"/>
            <a:ext cx="53917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do vídeo exportado?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(ou GIF).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Rotativo mede com ROI padrão XY?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use Horizontal/Vertical Shaft na borda do eixo.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ferramentas contra a granulação?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Reduction e filtragem por frequência.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 </a:t>
            </a:r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de estabilização deve cobrir o ativo?</a:t>
            </a:r>
            <a:endParaRPr lang="en-US" sz="125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</a:t>
            </a:r>
            <a:pPr indent="0" marL="0">
              <a:buNone/>
            </a:pPr>
            <a:r>
              <a:rPr lang="en-US" sz="120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 — cobre-se o máximo de FUNDO, sem o ativo.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6  ·  2º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ao Motion Studio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as funções básicas do Motion Studio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 projeto de filme como exercício em sala de aula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6 · MOTION STUDIO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interface e os primeiros passos (Ex. 23 e 24)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6309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áreas: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ferramentas · conteúdo disponível (vídeos/imagens da coleção) · área de trabalho do projeto (linha do tempo) · janela de pré-visualização;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23 — abrir: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selecione a Coleção 1 no Explorer → botão New Movie Project;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24 — slide de título: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Title → clique no texto “Title Slide” → digite “Exercício Um” (alinhamento, cor e fonte nas propriedades) → feche.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23760" y="1691640"/>
            <a:ext cx="4389120" cy="4114800"/>
          </a:xfrm>
          <a:prstGeom prst="roundRect">
            <a:avLst>
              <a:gd name="adj" fmla="val 2222"/>
            </a:avLst>
          </a:prstGeom>
          <a:solidFill>
            <a:srgbClr val="232329"/>
          </a:solidFill>
          <a:ln/>
        </p:spPr>
      </p:sp>
      <p:sp>
        <p:nvSpPr>
          <p:cNvPr id="7" name="Shape 5"/>
          <p:cNvSpPr/>
          <p:nvPr/>
        </p:nvSpPr>
        <p:spPr>
          <a:xfrm>
            <a:off x="7452360" y="1920240"/>
            <a:ext cx="3931920" cy="457200"/>
          </a:xfrm>
          <a:prstGeom prst="rect">
            <a:avLst/>
          </a:prstGeom>
          <a:solidFill>
            <a:srgbClr val="3A3A44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ferramentas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52360" y="2514600"/>
            <a:ext cx="1234440" cy="2286000"/>
          </a:xfrm>
          <a:prstGeom prst="rect">
            <a:avLst/>
          </a:prstGeom>
          <a:solidFill>
            <a:srgbClr val="2E2E36"/>
          </a:solidFill>
          <a:ln/>
        </p:spPr>
      </p:sp>
      <p:sp>
        <p:nvSpPr>
          <p:cNvPr id="10" name="Text 8"/>
          <p:cNvSpPr/>
          <p:nvPr/>
        </p:nvSpPr>
        <p:spPr>
          <a:xfrm>
            <a:off x="7452360" y="2514600"/>
            <a:ext cx="1234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823960" y="2514600"/>
            <a:ext cx="2560320" cy="1051560"/>
          </a:xfrm>
          <a:prstGeom prst="rect">
            <a:avLst/>
          </a:prstGeom>
          <a:solidFill>
            <a:srgbClr val="2E2E36"/>
          </a:solidFill>
          <a:ln/>
        </p:spPr>
      </p:sp>
      <p:sp>
        <p:nvSpPr>
          <p:cNvPr id="12" name="Text 10"/>
          <p:cNvSpPr/>
          <p:nvPr/>
        </p:nvSpPr>
        <p:spPr>
          <a:xfrm>
            <a:off x="8823960" y="251460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pré-visualização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23960" y="3703320"/>
            <a:ext cx="2560320" cy="1097280"/>
          </a:xfrm>
          <a:prstGeom prst="rect">
            <a:avLst/>
          </a:prstGeom>
          <a:solidFill>
            <a:srgbClr val="2E2E36"/>
          </a:solidFill>
          <a:ln/>
        </p:spPr>
      </p:sp>
      <p:sp>
        <p:nvSpPr>
          <p:cNvPr id="14" name="Shape 12"/>
          <p:cNvSpPr/>
          <p:nvPr/>
        </p:nvSpPr>
        <p:spPr>
          <a:xfrm>
            <a:off x="9006840" y="40233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E548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628632" y="40233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55A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50424" y="40233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3DA5E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872216" y="40233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823960" y="4846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trabalho (linha do tempo)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6 · MOTION STUDIO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 de vídeo, cópias e anotações (Ex. 25 e 26)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1760" cy="2514600"/>
          </a:xfrm>
          <a:prstGeom prst="roundRect">
            <a:avLst>
              <a:gd name="adj" fmla="val 327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25 · Adicionar e editar segmento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506257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 o vídeo no painel de conteúdo → ele entra na linha do tempo. Cada miniatura representa até 10 s (32 s = 4 quadros). Botão direito → Edit → Included Duration = 5 s (há fade in/out) → vira uma miniatura só.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391760" cy="2514600"/>
          </a:xfrm>
          <a:prstGeom prst="roundRect">
            <a:avLst>
              <a:gd name="adj" fmla="val 3273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26 · Copiar, colar e anotar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97600" y="2112264"/>
            <a:ext cx="506257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no segmento → Paste → edite a cópia para 5 s. Selecione o 3º segmento → botão Annotate na pré-visualização → Text → clique na posição → digite “Base não presa” → feche.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57200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64515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DICA DE FLUXO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primeiro a sequência (títulos + segmentos), depois refine durações e anotações — som é sempre o último passo.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6 · MOTION STUDIO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Composto e Line Scan (Ex. 27 e 28)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1760" cy="27432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27 · Add Composite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50625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Vários vídeos na mesma tela. Tipo Top/Bottom → caixa superior: vídeo NÃO filtrado → caixa inferior: vídeo filtrado → Overall Duration = 10 s → anotações “Não filtrado”/“Filtrado” → título “Fim” no final.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391760" cy="27432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28 · Add Line Scan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97600" y="2112264"/>
            <a:ext cx="50625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varre a tela convertendo imagem em vídeo amplificado. Orientation: Left to Right · Mode: Pre/Post Begin Simultaneously · Pre: original (5 s) · Post: filtrado (5 s) · transição 2 s (espessura/cor ajustáveis) · título “Final”.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709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892040"/>
            <a:ext cx="4754880" cy="384048"/>
          </a:xfrm>
          <a:prstGeom prst="rect">
            <a:avLst/>
          </a:prstGeom>
          <a:solidFill>
            <a:srgbClr val="C9C9D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4892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filtrado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1248" y="5321808"/>
            <a:ext cx="4754880" cy="384048"/>
          </a:xfrm>
          <a:prstGeom prst="rect">
            <a:avLst/>
          </a:prstGeom>
          <a:solidFill>
            <a:srgbClr val="A8D5B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321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4709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892040"/>
            <a:ext cx="2194560" cy="822960"/>
          </a:xfrm>
          <a:prstGeom prst="rect">
            <a:avLst/>
          </a:prstGeom>
          <a:solidFill>
            <a:srgbClr val="C9C9D2"/>
          </a:solidFill>
          <a:ln/>
        </p:spPr>
      </p:sp>
      <p:sp>
        <p:nvSpPr>
          <p:cNvPr id="18" name="Shape 16"/>
          <p:cNvSpPr/>
          <p:nvPr/>
        </p:nvSpPr>
        <p:spPr>
          <a:xfrm>
            <a:off x="8732520" y="4892040"/>
            <a:ext cx="128016" cy="822960"/>
          </a:xfrm>
          <a:prstGeom prst="rect">
            <a:avLst/>
          </a:prstGeom>
          <a:solidFill>
            <a:srgbClr val="B01E24"/>
          </a:solidFill>
          <a:ln/>
        </p:spPr>
      </p:sp>
      <p:sp>
        <p:nvSpPr>
          <p:cNvPr id="19" name="Shape 17"/>
          <p:cNvSpPr/>
          <p:nvPr/>
        </p:nvSpPr>
        <p:spPr>
          <a:xfrm>
            <a:off x="8860536" y="4892040"/>
            <a:ext cx="2286000" cy="822960"/>
          </a:xfrm>
          <a:prstGeom prst="rect">
            <a:avLst/>
          </a:prstGeom>
          <a:solidFill>
            <a:srgbClr val="A8D5B8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0" y="51389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de varredura →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6 · MOTION STUDIO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e salvamento (Ex. 29 e 30)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91760" cy="2560320"/>
          </a:xfrm>
          <a:prstGeom prst="roundRect">
            <a:avLst>
              <a:gd name="adj" fmla="val 321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29 · Áudio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50625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Editor → Add Narration → posicione a barra → grave a fala ao microfone (ex.: “o vídeo amplificado mostra folga na base”) → Pause → OK. Há também Add Music. O áudio vira um segmento sombreado na linha do tempo.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3008" y="1691640"/>
            <a:ext cx="5391760" cy="2560320"/>
          </a:xfrm>
          <a:prstGeom prst="roundRect">
            <a:avLst>
              <a:gd name="adj" fmla="val 3214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7600" y="1801368"/>
            <a:ext cx="506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30 · Salvar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97600" y="2112264"/>
            <a:ext cx="50625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File → Save Project (link do projeto no Explorer — permite editar depois) → Save Movie (gera o .mp4 final) → None → OK. Sem o projeto salvo, qualquer alteração exigiria recomeçar do zero.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52628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59943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som é o ÚLTIMO passo do projeto — depois do áudio, não é recomendado editar o vídeo.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6 · MOTION STUDIO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em sala de aula — critérios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“Projeto de Vídeo em Sala de Aula no Motion Studio” + seu nome como subtítulo;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menos 6 segmentos de vídeo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dados da sala e do campo;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Encerramento:</a:t>
            </a:r>
            <a:endParaRPr lang="en-US" sz="13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de título “Fim”.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350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conjunto deve incluir: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5040" y="201168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ruído (nada de vídeo granulado!);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vídeo filtrado;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segmento composto;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transição Line Scan;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anotação;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região amplificada/não amplificada;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limites (threshold) onde couber;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 gráfico de vibração (.png ou anotação).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2976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DF6F0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4370832"/>
            <a:ext cx="48280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final, cada participante apresenta o projeto à turma — o vídeo deve contar a história sozinho.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7  ·  3º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do Banco de Dados do Motion Explorer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Importar, exportar e mover arquivos com o Motion Explorer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Discutir dicas básicas para resolução de problemas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7 · BANCO DE DADOS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manter a hierarquia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100 GB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dados em um único dia de coleta não é incomum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43400" y="1828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34340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da unidade (≈ 80 GB são do sistema)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920 GB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772400" y="2606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livres para as gravações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374904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analisados, os dados devem ir para armazenamento permanente: servidor ou HD portátil (este ainda em campo, se possível);</a:t>
            </a:r>
            <a:endParaRPr lang="en-US" sz="14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funções de Exportar, Importar e Mover do Motion Explorer cuidam de tudo — preservando a hierarquia.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7 · BANCO DE DADOS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31 — Exportação de 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6858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Selecione a pasta Classroom → ícone Export;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1: “All Collections not previously exported” (há opções por data e manual);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Tipos: RDI Recordings + Exported MP4 Videos + All Other Files;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Crie a pasta de destino “Export Example”; mantenha o nome padrão do .exp;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comprima; selecione “Leave Collections and associated files on computer” → Next;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2: confira os itens (espaço requerido × disponível) → Finish;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 o .exp no Windows; depois Remove na pasta Classroom escolhendo DELETAR os arquivos → Yes.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0" y="169164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1874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01000" y="2240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íntegro no arquivo .exp;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 e arquivos removidos da unidade;</a:t>
            </a:r>
            <a:endParaRPr lang="en-US" sz="12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liberado para a próxima coleta.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44805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DF3E4"/>
          </a:solidFill>
          <a:ln w="12700">
            <a:solidFill>
              <a:srgbClr val="B87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18704" y="4553712"/>
            <a:ext cx="35478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VOLTA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exclusão dos arquivos é definitiva — por isso exporte ANTES de remover.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7 · BANCO DE DADOS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32 — Importação · Mover arquivos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(restaurar)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1938528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Selecione a empresa na hierarquia → ícone Import;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o arquivo .exp → Open;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Summary (ativos, coleções, gravações, vídeos…) → Yes;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e arquivos restaurados nos locais originais.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 arquivos (Move Files)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55080" y="1938528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o local físico dos dados (ex.: SSD → servidor de rede) mantendo a hierarquia e as posições no Explorer;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partir de qualquer nível — tudo abaixo vai junto;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o diretório de destino → OK → barra de progresso;</a:t>
            </a:r>
            <a:endParaRPr lang="en-US" sz="125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unidade perder a conexão com o destino, os itens ficam “desbotados” e param de funcionar até reconectar.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5212080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285232"/>
            <a:ext cx="107652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× MOVER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gera um pacote .exp para backup/transferência; mover apenas re-endereça os arquivos, com a hierarquia intacta.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206240" cy="4206240"/>
          </a:xfrm>
          <a:prstGeom prst="ellipse">
            <a:avLst/>
          </a:prstGeom>
          <a:ln w="2540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481328"/>
            <a:ext cx="1965960" cy="1965960"/>
          </a:xfrm>
          <a:prstGeom prst="ellipse">
            <a:avLst/>
          </a:prstGeom>
          <a:solidFill>
            <a:srgbClr val="B01E2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81328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276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8  ·  3º DIA DE AULA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956816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Resolução de Problemas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9184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4297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os problemas mais comuns de gravação e reprodução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D8D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onde buscar suporte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 8 · TROUBLESHOOTING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problemas clássicos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Amplificação de Movimento — Treinamento Básico</a:t>
            </a:r>
            <a:pPr algn="r" indent="0" marL="0">
              <a:buNone/>
            </a:pPr>
            <a:r>
              <a:rPr lang="en-US" sz="900" b="1" dirty="0">
                <a:solidFill>
                  <a:srgbClr val="9A9A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80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533546" cy="329184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0136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iluminação oscila no vídeo amplificado”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12264"/>
            <a:ext cx="320436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fps fora de sincronia com 2× a frequência da rede → batimento com a pulsação da luz.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grave a 120/60 fps (rede 60 Hz) ou 100/50 fps (50 Hz); mantenha a luz constante; a filtragem por frequência pode remover o batimento depois.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9074" y="1691640"/>
            <a:ext cx="3533546" cy="329184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3666" y="180136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movimento aparece na imagem inteira”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3666" y="2112264"/>
            <a:ext cx="320436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a câmera vibrou durante a aquisição.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confira os isoladores do tripé; use estabilização (ou filtragem, se o tremor está fora da frequência de interesse).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1221" y="1691640"/>
            <a:ext cx="3533546" cy="3291840"/>
          </a:xfrm>
          <a:prstGeom prst="roundRect">
            <a:avLst>
              <a:gd name="adj" fmla="val 2500"/>
            </a:avLst>
          </a:prstGeom>
          <a:solidFill>
            <a:srgbClr val="F5F5F7"/>
          </a:solidFill>
          <a:ln w="12700">
            <a:solidFill>
              <a:srgbClr val="E4E4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5813" y="1801368"/>
            <a:ext cx="32043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movimento parece lento ou parado”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55813" y="2112264"/>
            <a:ext cx="320436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efeito roda de carruagem — ex.: movimento de 30 Hz reproduzido a 30 fps parece congelado.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 experimente várias velocidades de reprodução, começando pela mais lenta e subindo aos poucos.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525780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2700">
            <a:solidFill>
              <a:srgbClr val="1C5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330952"/>
            <a:ext cx="10765231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C5D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  </a:t>
            </a:r>
            <a:pPr indent="0" marL="0">
              <a:buNone/>
            </a:pPr>
            <a:r>
              <a:rPr lang="en-US" sz="1150" dirty="0">
                <a:solidFill>
                  <a:srgbClr val="2A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soluções na página de suporte do fabricante (rditechnologies.com/support) ou com o representante do treinamento.</a:t>
            </a:r>
            <a:endParaRPr lang="en-US" sz="10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3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ln w="304800">
            <a:solidFill>
              <a:srgbClr val="B01E24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96596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a certificação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28803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geral → prova de Certificação de Amplificação de Movimento — Nível 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115568" y="37947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2E2E36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52728" y="4663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seções concluídas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13048" y="37947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2E2E36"/>
          </a:solidFill>
          <a:ln/>
        </p:spPr>
      </p:sp>
      <p:sp>
        <p:nvSpPr>
          <p:cNvPr id="9" name="Text 7"/>
          <p:cNvSpPr/>
          <p:nvPr/>
        </p:nvSpPr>
        <p:spPr>
          <a:xfrm>
            <a:off x="381304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950208" y="4663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praticados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10528" y="37947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2E2E36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47688" y="4663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no checklist de gravação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08008" y="37947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2E2E36"/>
          </a:solidFill>
          <a:ln/>
        </p:spPr>
      </p:sp>
      <p:sp>
        <p:nvSpPr>
          <p:cNvPr id="15" name="Text 13"/>
          <p:cNvSpPr/>
          <p:nvPr/>
        </p:nvSpPr>
        <p:spPr>
          <a:xfrm>
            <a:off x="920800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345168" y="46634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que conta toda a história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 estudo reconstruído a partir do manual de treinamento v3.5 · Motion Amplification®, Iris M e Iris MX são marcas da RDI Technologies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Treinamento Básico — Amplificação de Movimento</dc:title>
  <dc:subject>PptxGenJS Presentation</dc:subject>
  <dc:creator>Treinamento Amplificação de Movimento</dc:creator>
  <cp:lastModifiedBy>Treinamento Amplificação de Movimento</cp:lastModifiedBy>
  <cp:revision>1</cp:revision>
  <dcterms:created xsi:type="dcterms:W3CDTF">2026-07-13T01:30:09Z</dcterms:created>
  <dcterms:modified xsi:type="dcterms:W3CDTF">2026-07-13T01:30:09Z</dcterms:modified>
</cp:coreProperties>
</file>